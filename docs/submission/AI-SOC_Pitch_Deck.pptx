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g3f94dd7f3e1_2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 name="Google Shape;16;g3f94dd7f3e1_2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Good afternoon, judges. What you're looking at is AI-SOC — an AI Security Operations Center built for critical national infrastructure. In one line: it detects, it explains, and it responds to cyberattacks, and it shows its work at every step. Over the next few minutes we'll walk through why that matters, what we built, and what it actually does live.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f94dd7f3e1_2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g3f94dd7f3e1_2_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Let's start with why this exists. CERT-In alone handled over one point five nine million cybersecurity incidents in 2023, and that number keeps climbing. AIIMS Delhi, CBSE — India's public institutions keep getting hit, and more than seventy percent of government entities are still running end-of-life infrastructure. This isn't a hypothetical threat model. It's already happening, at scale.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94dd7f3e1_2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g3f94dd7f3e1_2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why isn't this solved already? Because the failure was never a lack of alerts — it's detection speed. Signature-based tools simply can't see an advanced persistent threat that never matches a known signature and deliberately moves low and slow. What's actually missing is a behavioral intelligence layer — something that notices "this isn't how this host normally behaves," and acts fast enough that response happens in hours, not weeks. That's the gap we built to close.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94dd7f3e1_2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f94dd7f3e1_2_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Here's what we built: three coordinating agents, not one dashboard. A Detection Agent learns normal traffic and flags deviations — no signatures involved. An Attribution and Prediction Agent takes that anomaly and maps it to a cited MITRE ATT&amp;CK technique. A Response Orchestrator decides what to do about it, behind a human-approval gate. And everything feeds a live dashboard so you can watch it happen. Let's look at each agent in turn.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94dd7f3e1_2_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g3f94dd7f3e1_2_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First, detection. This is an unsupervised Isolation Forest, trained only on normal UNSW-NB15 traffic — it never sees a labelled attack during training. It scores live flows and reports the human-readable features that made a flow look abnormal, not just a bare anomaly score. That's deliberate: no signature-matching anywhere in this loop, because signature matching is exactly what lets a slow-moving attacker slip through.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94dd7f3e1_2_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g3f94dd7f3e1_2_1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Once something looks anomalous, the Attribution Agent takes over — and this is the differentiator against a plain ML dashboard. It retrieves from a Chroma index built on MITRE ATT&amp;CK, NVD CVE, and CERT-In advisories, and it never states a technique ID it can't ground in a retrieved source. If retrieval comes back thin, the confidence score drops honestly instead of guessing. What you're seeing on the right is that agent's actual output — a MITRE-mapped audit trail, live.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94dd7f3e1_2_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g3f94dd7f3e1_2_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Then the Response Orchestrator decides what happens next — and importantly, the policy decides, not the model. `policy.py` is the one authority mapping anomaly score and severity to an action. High-blast-radius actions like isolating a host sit at pending-approval until a human clicks approve — that's the before-and-after you see here. And every single action is hash-chained into the audit log, so it's genuinely tamper-evident, not just logged.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94dd7f3e1_2_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g3f94dd7f3e1_2_2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All of that surfaces on one screen. This live incident feed is subscribed over server-sent events, and we built it first — before anything else — because it's the proof the whole pipeline actually runs end to end. What you're looking at isn't a mockup; it's the same feed running right now.</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94dd7f3e1_2_2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f94dd7f3e1_2_2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One more capability worth calling out on its own: this is a real knowledge graph, not just a grid. We correlate events by host into a source-to-destination graph, and that surfaces lateral movement — the kind of east-west traffic an attacker uses to move deeper into a network. The edges come from real MITRE ATT&amp;CK STIX relationships, so this isn't decoration — it's a legitimate graph capability.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94dd7f3e1_2_2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g3f94dd7f3e1_2_2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why isn't this just an ML dashboard with extra steps? Four reasons. No signatures — it flags deviation, not a known pattern. Retrieve-then-cite, always — never a confident guess on a technique ID. Policy decides, not the LLM — the model's suggestion is advisory only. And human-in-the-loop above blast-radius thresholds — required, not optional. Take any one of those away and you're back to a dashboard.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94dd7f3e1_2_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g3f94dd7f3e1_2_2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Underneath all three agents sits one seam: three frozen JSON contracts, mirrored as Pydantic models. The anomaly event, the enriched incident, and the containment action. Every pillar imports the same schema file, so nothing can drift quietly out of sync — if a contract changes, we bump the version and every consumer knows.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94dd7f3e1_2_3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g3f94dd7f3e1_2_3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Let's talk numbers, because a hackathon pitch without them isn't worth much. Fit entirely on normal traffic, evaluated on held-out normal plus every attack class: ROC-AUC of point eight six seven. Recall of point seven four nine at a ten percent false-positive rate, or point eight two at a higher-recall operating point with twenty percent FPR. Precision of point nine eight one at the balanced point. These are defensible numbers, not a claim of perfection.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94dd7f3e1_2_3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g3f94dd7f3e1_2_3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And mapping directly onto what the brief actually asks judges to score: detection rate and FPR, attribution accuracy at the technique level, automation coverage, MTTD and MTTR improvement, and full auditability. Every one of those has a direct, named answer in this repository — not a promise, an answer.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94dd7f3e1_2_4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g3f94dd7f3e1_2_4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Which brings us to the turn this pipeline actually makes. The same one point five nine million incidents a year, but now met by a pipeline that goes from deviation to decision in seconds — not the weeks a manual SOC needs. And every one of those seconds is hash-chained and independently re-verifiable, so speed never comes at the cost of trust.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94dd7f3e1_2_4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g3f94dd7f3e1_2_4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here's where we'll leave it. This already runs end to end, today — detection, attribution, orchestration, and the dashboard are built and wired together, not slides promising a future build. Thank you — this was built for ET AI Hackathon 2026 by OfficialAbhinavSingh and Viscous106.</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Impact"/>
              <a:buNone/>
              <a:defRPr b="0" i="0" sz="3300" u="none" cap="none" strike="noStrike">
                <a:solidFill>
                  <a:schemeClr val="dk1"/>
                </a:solidFill>
                <a:latin typeface="Impact"/>
                <a:ea typeface="Impact"/>
                <a:cs typeface="Impact"/>
                <a:sym typeface="Impact"/>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Georgia"/>
                <a:ea typeface="Georgia"/>
                <a:cs typeface="Georgia"/>
                <a:sym typeface="Georgia"/>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Georgia"/>
                <a:ea typeface="Georgia"/>
                <a:cs typeface="Georgia"/>
                <a:sym typeface="Georgia"/>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9pPr>
          </a:lstStyle>
          <a:p/>
        </p:txBody>
      </p:sp>
      <p:sp>
        <p:nvSpPr>
          <p:cNvPr id="8" name="Google Shape;8;p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sz="900">
                <a:solidFill>
                  <a:srgbClr val="898989"/>
                </a:solidFill>
                <a:latin typeface="Georgia"/>
                <a:ea typeface="Georgia"/>
                <a:cs typeface="Georgia"/>
                <a:sym typeface="Georgia"/>
              </a:defRPr>
            </a:lvl1pPr>
            <a:lvl2pPr lvl="1"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9" name="Google Shape;9;p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sz="900">
                <a:solidFill>
                  <a:srgbClr val="898989"/>
                </a:solidFill>
                <a:latin typeface="Georgia"/>
                <a:ea typeface="Georgia"/>
                <a:cs typeface="Georgia"/>
                <a:sym typeface="Georgia"/>
              </a:defRPr>
            </a:lvl1pPr>
            <a:lvl2pPr lvl="1"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10" name="Google Shape;10;p1"/>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sz="900">
                <a:solidFill>
                  <a:srgbClr val="898989"/>
                </a:solidFill>
                <a:latin typeface="Georgia"/>
                <a:ea typeface="Georgia"/>
                <a:cs typeface="Georgia"/>
                <a:sym typeface="Georgia"/>
              </a:defRPr>
            </a:lvl1pPr>
            <a:lvl2pPr indent="0" lvl="1" marL="0" marR="0" rtl="0" algn="r">
              <a:spcBef>
                <a:spcPts val="0"/>
              </a:spcBef>
              <a:buNone/>
              <a:defRPr sz="900">
                <a:solidFill>
                  <a:srgbClr val="898989"/>
                </a:solidFill>
                <a:latin typeface="Georgia"/>
                <a:ea typeface="Georgia"/>
                <a:cs typeface="Georgia"/>
                <a:sym typeface="Georgia"/>
              </a:defRPr>
            </a:lvl2pPr>
            <a:lvl3pPr indent="0" lvl="2" marL="0" marR="0" rtl="0" algn="r">
              <a:spcBef>
                <a:spcPts val="0"/>
              </a:spcBef>
              <a:buNone/>
              <a:defRPr sz="900">
                <a:solidFill>
                  <a:srgbClr val="898989"/>
                </a:solidFill>
                <a:latin typeface="Georgia"/>
                <a:ea typeface="Georgia"/>
                <a:cs typeface="Georgia"/>
                <a:sym typeface="Georgia"/>
              </a:defRPr>
            </a:lvl3pPr>
            <a:lvl4pPr indent="0" lvl="3" marL="0" marR="0" rtl="0" algn="r">
              <a:spcBef>
                <a:spcPts val="0"/>
              </a:spcBef>
              <a:buNone/>
              <a:defRPr sz="900">
                <a:solidFill>
                  <a:srgbClr val="898989"/>
                </a:solidFill>
                <a:latin typeface="Georgia"/>
                <a:ea typeface="Georgia"/>
                <a:cs typeface="Georgia"/>
                <a:sym typeface="Georgia"/>
              </a:defRPr>
            </a:lvl4pPr>
            <a:lvl5pPr indent="0" lvl="4" marL="0" marR="0" rtl="0" algn="r">
              <a:spcBef>
                <a:spcPts val="0"/>
              </a:spcBef>
              <a:buNone/>
              <a:defRPr sz="900">
                <a:solidFill>
                  <a:srgbClr val="898989"/>
                </a:solidFill>
                <a:latin typeface="Georgia"/>
                <a:ea typeface="Georgia"/>
                <a:cs typeface="Georgia"/>
                <a:sym typeface="Georgia"/>
              </a:defRPr>
            </a:lvl5pPr>
            <a:lvl6pPr indent="0" lvl="5" marL="0" marR="0" rtl="0" algn="r">
              <a:spcBef>
                <a:spcPts val="0"/>
              </a:spcBef>
              <a:buNone/>
              <a:defRPr sz="900">
                <a:solidFill>
                  <a:srgbClr val="898989"/>
                </a:solidFill>
                <a:latin typeface="Georgia"/>
                <a:ea typeface="Georgia"/>
                <a:cs typeface="Georgia"/>
                <a:sym typeface="Georgia"/>
              </a:defRPr>
            </a:lvl6pPr>
            <a:lvl7pPr indent="0" lvl="6" marL="0" marR="0" rtl="0" algn="r">
              <a:spcBef>
                <a:spcPts val="0"/>
              </a:spcBef>
              <a:buNone/>
              <a:defRPr sz="900">
                <a:solidFill>
                  <a:srgbClr val="898989"/>
                </a:solidFill>
                <a:latin typeface="Georgia"/>
                <a:ea typeface="Georgia"/>
                <a:cs typeface="Georgia"/>
                <a:sym typeface="Georgia"/>
              </a:defRPr>
            </a:lvl7pPr>
            <a:lvl8pPr indent="0" lvl="7" marL="0" marR="0" rtl="0" algn="r">
              <a:spcBef>
                <a:spcPts val="0"/>
              </a:spcBef>
              <a:buNone/>
              <a:defRPr sz="900">
                <a:solidFill>
                  <a:srgbClr val="898989"/>
                </a:solidFill>
                <a:latin typeface="Georgia"/>
                <a:ea typeface="Georgia"/>
                <a:cs typeface="Georgia"/>
                <a:sym typeface="Georgia"/>
              </a:defRPr>
            </a:lvl8pPr>
            <a:lvl9pPr indent="0" lvl="8" marL="0" marR="0" rtl="0" algn="r">
              <a:spcBef>
                <a:spcPts val="0"/>
              </a:spcBef>
              <a:buNone/>
              <a:defRPr sz="900">
                <a:solidFill>
                  <a:srgbClr val="898989"/>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5"/>
          <p:cNvSpPr/>
          <p:nvPr/>
        </p:nvSpPr>
        <p:spPr>
          <a:xfrm>
            <a:off x="171450" y="171450"/>
            <a:ext cx="8801100" cy="4800600"/>
          </a:xfrm>
          <a:prstGeom prst="rect">
            <a:avLst/>
          </a:prstGeom>
          <a:noFill/>
          <a:ln cap="flat" cmpd="sng" w="19050">
            <a:solidFill>
              <a:schemeClr val="accent4"/>
            </a:solidFill>
            <a:prstDash val="lg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 name="Google Shape;19;p5"/>
          <p:cNvSpPr/>
          <p:nvPr/>
        </p:nvSpPr>
        <p:spPr>
          <a:xfrm>
            <a:off x="475622" y="538163"/>
            <a:ext cx="248897" cy="238252"/>
          </a:xfrm>
          <a:custGeom>
            <a:rect b="b" l="l" r="r" t="t"/>
            <a:pathLst>
              <a:path extrusionOk="0" h="317670" w="331862">
                <a:moveTo>
                  <a:pt x="165907" y="0"/>
                </a:moveTo>
                <a:lnTo>
                  <a:pt x="167780" y="111"/>
                </a:lnTo>
                <a:lnTo>
                  <a:pt x="168717" y="238"/>
                </a:lnTo>
                <a:lnTo>
                  <a:pt x="169685" y="445"/>
                </a:lnTo>
                <a:lnTo>
                  <a:pt x="171447" y="984"/>
                </a:lnTo>
                <a:cubicBezTo>
                  <a:pt x="172664" y="1433"/>
                  <a:pt x="173821" y="2030"/>
                  <a:pt x="174892" y="2762"/>
                </a:cubicBezTo>
                <a:lnTo>
                  <a:pt x="176543" y="4064"/>
                </a:lnTo>
                <a:lnTo>
                  <a:pt x="180591" y="7525"/>
                </a:lnTo>
                <a:cubicBezTo>
                  <a:pt x="212616" y="34124"/>
                  <a:pt x="253090" y="48408"/>
                  <a:pt x="294717" y="47800"/>
                </a:cubicBezTo>
                <a:lnTo>
                  <a:pt x="300146" y="47641"/>
                </a:lnTo>
                <a:cubicBezTo>
                  <a:pt x="307451" y="47308"/>
                  <a:pt x="314039" y="52008"/>
                  <a:pt x="316100" y="59023"/>
                </a:cubicBezTo>
                <a:cubicBezTo>
                  <a:pt x="331862" y="112638"/>
                  <a:pt x="325206" y="170352"/>
                  <a:pt x="297656" y="218972"/>
                </a:cubicBezTo>
                <a:cubicBezTo>
                  <a:pt x="270106" y="267592"/>
                  <a:pt x="224016" y="302961"/>
                  <a:pt x="169923" y="316993"/>
                </a:cubicBezTo>
                <a:cubicBezTo>
                  <a:pt x="167310" y="317670"/>
                  <a:pt x="164567" y="317670"/>
                  <a:pt x="161954" y="316993"/>
                </a:cubicBezTo>
                <a:cubicBezTo>
                  <a:pt x="107858" y="302964"/>
                  <a:pt x="61765" y="267597"/>
                  <a:pt x="34211" y="218976"/>
                </a:cubicBezTo>
                <a:cubicBezTo>
                  <a:pt x="6657" y="170356"/>
                  <a:pt x="0" y="112640"/>
                  <a:pt x="15761" y="59023"/>
                </a:cubicBezTo>
                <a:cubicBezTo>
                  <a:pt x="17823" y="52008"/>
                  <a:pt x="24410" y="47308"/>
                  <a:pt x="31715" y="47641"/>
                </a:cubicBezTo>
                <a:cubicBezTo>
                  <a:pt x="75172" y="49627"/>
                  <a:pt x="117806" y="35322"/>
                  <a:pt x="151270" y="7525"/>
                </a:cubicBezTo>
                <a:lnTo>
                  <a:pt x="155445" y="3953"/>
                </a:lnTo>
                <a:lnTo>
                  <a:pt x="156969" y="2762"/>
                </a:lnTo>
                <a:cubicBezTo>
                  <a:pt x="158040" y="2030"/>
                  <a:pt x="159197" y="1433"/>
                  <a:pt x="160414" y="984"/>
                </a:cubicBezTo>
                <a:lnTo>
                  <a:pt x="162192" y="445"/>
                </a:lnTo>
                <a:cubicBezTo>
                  <a:pt x="162814" y="294"/>
                  <a:pt x="163445" y="183"/>
                  <a:pt x="164081" y="111"/>
                </a:cubicBezTo>
                <a:lnTo>
                  <a:pt x="165907" y="0"/>
                </a:lnTo>
                <a:close/>
                <a:moveTo>
                  <a:pt x="165938" y="111125"/>
                </a:moveTo>
                <a:cubicBezTo>
                  <a:pt x="149323" y="111120"/>
                  <a:pt x="135514" y="123926"/>
                  <a:pt x="134268" y="140494"/>
                </a:cubicBezTo>
                <a:lnTo>
                  <a:pt x="134188" y="142875"/>
                </a:lnTo>
                <a:lnTo>
                  <a:pt x="134268" y="145257"/>
                </a:lnTo>
                <a:cubicBezTo>
                  <a:pt x="135062" y="155719"/>
                  <a:pt x="140975" y="165113"/>
                  <a:pt x="150063" y="170355"/>
                </a:cubicBezTo>
                <a:lnTo>
                  <a:pt x="150063" y="198438"/>
                </a:lnTo>
                <a:lnTo>
                  <a:pt x="150175" y="200295"/>
                </a:lnTo>
                <a:cubicBezTo>
                  <a:pt x="151167" y="208636"/>
                  <a:pt x="158484" y="214760"/>
                  <a:pt x="166869" y="214268"/>
                </a:cubicBezTo>
                <a:cubicBezTo>
                  <a:pt x="175254" y="213776"/>
                  <a:pt x="181804" y="206837"/>
                  <a:pt x="181813" y="198438"/>
                </a:cubicBezTo>
                <a:lnTo>
                  <a:pt x="181829" y="170371"/>
                </a:lnTo>
                <a:cubicBezTo>
                  <a:pt x="194276" y="163184"/>
                  <a:pt x="200342" y="148532"/>
                  <a:pt x="196619" y="134650"/>
                </a:cubicBezTo>
                <a:cubicBezTo>
                  <a:pt x="192896" y="120768"/>
                  <a:pt x="180311" y="111119"/>
                  <a:pt x="165938" y="111125"/>
                </a:cubicBezTo>
                <a:close/>
              </a:path>
            </a:pathLst>
          </a:cu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 name="Google Shape;20;p5"/>
          <p:cNvSpPr txBox="1"/>
          <p:nvPr/>
        </p:nvSpPr>
        <p:spPr>
          <a:xfrm>
            <a:off x="837819" y="605076"/>
            <a:ext cx="39780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2"/>
                </a:solidFill>
                <a:latin typeface="Consolas"/>
                <a:ea typeface="Consolas"/>
                <a:cs typeface="Consolas"/>
                <a:sym typeface="Consolas"/>
              </a:rPr>
              <a:t>ET AI HACKATHON 2026 / PROBLEM STATEMENT 7</a:t>
            </a:r>
            <a:endParaRPr sz="1100"/>
          </a:p>
        </p:txBody>
      </p:sp>
      <p:sp>
        <p:nvSpPr>
          <p:cNvPr id="21" name="Google Shape;21;p5"/>
          <p:cNvSpPr/>
          <p:nvPr/>
        </p:nvSpPr>
        <p:spPr>
          <a:xfrm>
            <a:off x="457200" y="842963"/>
            <a:ext cx="5400675" cy="7144"/>
          </a:xfrm>
          <a:custGeom>
            <a:rect b="b" l="l" r="r" t="t"/>
            <a:pathLst>
              <a:path extrusionOk="0" h="9525" w="7200900">
                <a:moveTo>
                  <a:pt x="0" y="0"/>
                </a:moveTo>
                <a:lnTo>
                  <a:pt x="7200900" y="0"/>
                </a:lnTo>
              </a:path>
            </a:pathLst>
          </a:custGeom>
          <a:noFill/>
          <a:ln cap="flat" cmpd="sng" w="19050">
            <a:solidFill>
              <a:schemeClr val="accent4"/>
            </a:solidFill>
            <a:prstDash val="solid"/>
            <a:round/>
            <a:headEnd len="sm" w="sm" type="none"/>
            <a:tailEnd len="sm" w="sm" type="none"/>
          </a:ln>
        </p:spPr>
      </p:sp>
      <p:grpSp>
        <p:nvGrpSpPr>
          <p:cNvPr id="22" name="Google Shape;22;p5"/>
          <p:cNvGrpSpPr/>
          <p:nvPr/>
        </p:nvGrpSpPr>
        <p:grpSpPr>
          <a:xfrm>
            <a:off x="4953000" y="666750"/>
            <a:ext cx="3714900" cy="3810000"/>
            <a:chOff x="0" y="0"/>
            <a:chExt cx="3714900" cy="3810000"/>
          </a:xfrm>
        </p:grpSpPr>
        <p:pic>
          <p:nvPicPr>
            <p:cNvPr descr="A futuristic, abstract representation of cybersecurity and digital defense networks, featuring intricate glowing circuit lines, nodes, and a subtle glowing shield in deep dark gray and crimson red tones, highly detailed tech vector graphic." id="23" name="Google Shape;23;p5"/>
            <p:cNvPicPr preferRelativeResize="0"/>
            <p:nvPr/>
          </p:nvPicPr>
          <p:blipFill rotWithShape="1">
            <a:blip r:embed="rId3">
              <a:alphaModFix/>
            </a:blip>
            <a:srcRect b="0" l="1248" r="1248" t="0"/>
            <a:stretch/>
          </p:blipFill>
          <p:spPr>
            <a:xfrm>
              <a:off x="0" y="0"/>
              <a:ext cx="3714900" cy="3810000"/>
            </a:xfrm>
            <a:prstGeom prst="roundRect">
              <a:avLst>
                <a:gd fmla="val 4102" name="adj"/>
              </a:avLst>
            </a:prstGeom>
            <a:noFill/>
            <a:ln>
              <a:noFill/>
            </a:ln>
          </p:spPr>
        </p:pic>
        <p:sp>
          <p:nvSpPr>
            <p:cNvPr id="24" name="Google Shape;24;p5"/>
            <p:cNvSpPr/>
            <p:nvPr/>
          </p:nvSpPr>
          <p:spPr>
            <a:xfrm>
              <a:off x="0" y="0"/>
              <a:ext cx="3714900" cy="3810000"/>
            </a:xfrm>
            <a:prstGeom prst="roundRect">
              <a:avLst>
                <a:gd fmla="val 4102" name="adj"/>
              </a:avLst>
            </a:prstGeom>
            <a:solidFill>
              <a:srgbClr val="000000">
                <a:alpha val="0"/>
              </a:srgbClr>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5" name="Google Shape;25;p5"/>
          <p:cNvGrpSpPr/>
          <p:nvPr/>
        </p:nvGrpSpPr>
        <p:grpSpPr>
          <a:xfrm>
            <a:off x="476250" y="1333500"/>
            <a:ext cx="4191000" cy="2524125"/>
            <a:chOff x="0" y="0"/>
            <a:chExt cx="4191000" cy="2524125"/>
          </a:xfrm>
        </p:grpSpPr>
        <p:sp>
          <p:nvSpPr>
            <p:cNvPr id="26" name="Google Shape;26;p5"/>
            <p:cNvSpPr txBox="1"/>
            <p:nvPr/>
          </p:nvSpPr>
          <p:spPr>
            <a:xfrm>
              <a:off x="0" y="0"/>
              <a:ext cx="4191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6800">
                  <a:solidFill>
                    <a:srgbClr val="16181C"/>
                  </a:solidFill>
                  <a:latin typeface="Impact"/>
                  <a:ea typeface="Impact"/>
                  <a:cs typeface="Impact"/>
                  <a:sym typeface="Impact"/>
                </a:rPr>
                <a:t>AI-SOC</a:t>
              </a:r>
              <a:endParaRPr sz="6800">
                <a:solidFill>
                  <a:srgbClr val="16181C"/>
                </a:solidFill>
                <a:latin typeface="Impact"/>
                <a:ea typeface="Impact"/>
                <a:cs typeface="Impact"/>
                <a:sym typeface="Impact"/>
              </a:endParaRPr>
            </a:p>
          </p:txBody>
        </p:sp>
        <p:sp>
          <p:nvSpPr>
            <p:cNvPr id="27" name="Google Shape;27;p5"/>
            <p:cNvSpPr/>
            <p:nvPr/>
          </p:nvSpPr>
          <p:spPr>
            <a:xfrm>
              <a:off x="0" y="1095375"/>
              <a:ext cx="1714500" cy="573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 name="Google Shape;28;p5"/>
            <p:cNvSpPr txBox="1"/>
            <p:nvPr/>
          </p:nvSpPr>
          <p:spPr>
            <a:xfrm>
              <a:off x="0" y="1381125"/>
              <a:ext cx="4191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405">
                  <a:solidFill>
                    <a:srgbClr val="16181C"/>
                  </a:solidFill>
                  <a:latin typeface="Georgia"/>
                  <a:ea typeface="Georgia"/>
                  <a:cs typeface="Georgia"/>
                  <a:sym typeface="Georgia"/>
                </a:rPr>
                <a:t>AI-Driven Cyber</a:t>
              </a:r>
              <a:endParaRPr sz="2405">
                <a:solidFill>
                  <a:srgbClr val="16181C"/>
                </a:solidFill>
                <a:latin typeface="Georgia"/>
                <a:ea typeface="Georgia"/>
                <a:cs typeface="Georgia"/>
                <a:sym typeface="Georgia"/>
              </a:endParaRPr>
            </a:p>
            <a:p>
              <a:pPr indent="0" lvl="0" marL="0" rtl="0" algn="l">
                <a:spcBef>
                  <a:spcPts val="600"/>
                </a:spcBef>
                <a:spcAft>
                  <a:spcPts val="0"/>
                </a:spcAft>
                <a:buNone/>
              </a:pPr>
              <a:r>
                <a:rPr lang="en" sz="2405">
                  <a:solidFill>
                    <a:srgbClr val="16181C"/>
                  </a:solidFill>
                  <a:latin typeface="Georgia"/>
                  <a:ea typeface="Georgia"/>
                  <a:cs typeface="Georgia"/>
                  <a:sym typeface="Georgia"/>
                </a:rPr>
                <a:t>Resilience</a:t>
              </a:r>
              <a:endParaRPr sz="2405">
                <a:solidFill>
                  <a:srgbClr val="16181C"/>
                </a:solidFill>
                <a:latin typeface="Georgia"/>
                <a:ea typeface="Georgia"/>
                <a:cs typeface="Georgia"/>
                <a:sym typeface="Georgia"/>
              </a:endParaRPr>
            </a:p>
            <a:p>
              <a:pPr indent="0" lvl="0" marL="0" rtl="0" algn="l">
                <a:spcBef>
                  <a:spcPts val="600"/>
                </a:spcBef>
                <a:spcAft>
                  <a:spcPts val="0"/>
                </a:spcAft>
                <a:buNone/>
              </a:pPr>
              <a:r>
                <a:rPr i="1" lang="en" sz="1665">
                  <a:solidFill>
                    <a:srgbClr val="3F4247"/>
                  </a:solidFill>
                  <a:latin typeface="Georgia"/>
                  <a:ea typeface="Georgia"/>
                  <a:cs typeface="Georgia"/>
                  <a:sym typeface="Georgia"/>
                </a:rPr>
                <a:t>for Critical Infrastructure</a:t>
              </a:r>
              <a:endParaRPr i="1" sz="1665">
                <a:solidFill>
                  <a:srgbClr val="3F4247"/>
                </a:solidFill>
                <a:latin typeface="Georgia"/>
                <a:ea typeface="Georgia"/>
                <a:cs typeface="Georgia"/>
                <a:sym typeface="Georgia"/>
              </a:endParaRPr>
            </a:p>
          </p:txBody>
        </p:sp>
      </p:grpSp>
      <p:grpSp>
        <p:nvGrpSpPr>
          <p:cNvPr id="29" name="Google Shape;29;p5"/>
          <p:cNvGrpSpPr/>
          <p:nvPr/>
        </p:nvGrpSpPr>
        <p:grpSpPr>
          <a:xfrm>
            <a:off x="476250" y="4000500"/>
            <a:ext cx="4191000" cy="714375"/>
            <a:chOff x="0" y="0"/>
            <a:chExt cx="4191000" cy="714375"/>
          </a:xfrm>
        </p:grpSpPr>
        <p:cxnSp>
          <p:nvCxnSpPr>
            <p:cNvPr id="30" name="Google Shape;30;p5"/>
            <p:cNvCxnSpPr/>
            <p:nvPr/>
          </p:nvCxnSpPr>
          <p:spPr>
            <a:xfrm>
              <a:off x="0" y="0"/>
              <a:ext cx="4191000" cy="0"/>
            </a:xfrm>
            <a:prstGeom prst="straightConnector1">
              <a:avLst/>
            </a:prstGeom>
            <a:solidFill>
              <a:srgbClr val="FFFFFF"/>
            </a:solidFill>
            <a:ln cap="flat" cmpd="sng" w="14300">
              <a:solidFill>
                <a:srgbClr val="16181C"/>
              </a:solidFill>
              <a:prstDash val="solid"/>
              <a:round/>
              <a:headEnd len="sm" w="sm" type="none"/>
              <a:tailEnd len="sm" w="sm" type="none"/>
            </a:ln>
          </p:spPr>
        </p:cxnSp>
        <p:sp>
          <p:nvSpPr>
            <p:cNvPr id="31" name="Google Shape;31;p5"/>
            <p:cNvSpPr txBox="1"/>
            <p:nvPr/>
          </p:nvSpPr>
          <p:spPr>
            <a:xfrm>
              <a:off x="0" y="142875"/>
              <a:ext cx="419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6181C"/>
                  </a:solidFill>
                  <a:latin typeface="Georgia"/>
                  <a:ea typeface="Georgia"/>
                  <a:cs typeface="Georgia"/>
                  <a:sym typeface="Georgia"/>
                </a:rPr>
                <a:t>Abhinav Singh, Yash Virulkar and Shrikant Shingare</a:t>
              </a:r>
              <a:endParaRPr b="1" sz="1200">
                <a:solidFill>
                  <a:srgbClr val="16181C"/>
                </a:solidFill>
                <a:latin typeface="Georgia"/>
                <a:ea typeface="Georgia"/>
                <a:cs typeface="Georgia"/>
                <a:sym typeface="Georgia"/>
              </a:endParaRPr>
            </a:p>
            <a:p>
              <a:pPr indent="0" lvl="0" marL="0" rtl="0" algn="l">
                <a:spcBef>
                  <a:spcPts val="450"/>
                </a:spcBef>
                <a:spcAft>
                  <a:spcPts val="0"/>
                </a:spcAft>
                <a:buNone/>
              </a:pPr>
              <a:r>
                <a:rPr lang="en" sz="1000">
                  <a:solidFill>
                    <a:srgbClr val="6B6E73"/>
                  </a:solidFill>
                  <a:latin typeface="Consolas"/>
                  <a:ea typeface="Consolas"/>
                  <a:cs typeface="Consolas"/>
                  <a:sym typeface="Consolas"/>
                </a:rPr>
                <a:t>DETECTS / EXPLAINS / RESPONDS</a:t>
              </a:r>
              <a:endParaRPr sz="1000">
                <a:solidFill>
                  <a:srgbClr val="6B6E73"/>
                </a:solidFill>
                <a:latin typeface="Consolas"/>
                <a:ea typeface="Consolas"/>
                <a:cs typeface="Consolas"/>
                <a:sym typeface="Consolas"/>
              </a:endParaRPr>
            </a:p>
          </p:txBody>
        </p:sp>
      </p:grpSp>
    </p:spTree>
  </p:cSld>
  <p:clrMapOvr>
    <a:masterClrMapping/>
  </p:clrMapOvr>
  <mc:AlternateContent>
    <mc:Choice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6"/>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37" name="Google Shape;37;p6"/>
          <p:cNvSpPr txBox="1"/>
          <p:nvPr/>
        </p:nvSpPr>
        <p:spPr>
          <a:xfrm>
            <a:off x="442913" y="88582"/>
            <a:ext cx="81837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Public infrastructure keeps getting hit</a:t>
            </a:r>
            <a:endParaRPr sz="1100"/>
          </a:p>
        </p:txBody>
      </p:sp>
      <p:sp>
        <p:nvSpPr>
          <p:cNvPr id="38" name="Google Shape;38;p6"/>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02</a:t>
            </a:r>
            <a:endParaRPr sz="1100"/>
          </a:p>
        </p:txBody>
      </p:sp>
      <p:grpSp>
        <p:nvGrpSpPr>
          <p:cNvPr id="39" name="Google Shape;39;p6"/>
          <p:cNvGrpSpPr/>
          <p:nvPr/>
        </p:nvGrpSpPr>
        <p:grpSpPr>
          <a:xfrm>
            <a:off x="457200" y="952500"/>
            <a:ext cx="3905400" cy="1000200"/>
            <a:chOff x="0" y="0"/>
            <a:chExt cx="3905400" cy="1000200"/>
          </a:xfrm>
        </p:grpSpPr>
        <p:sp>
          <p:nvSpPr>
            <p:cNvPr id="40" name="Google Shape;40;p6"/>
            <p:cNvSpPr/>
            <p:nvPr/>
          </p:nvSpPr>
          <p:spPr>
            <a:xfrm>
              <a:off x="0" y="0"/>
              <a:ext cx="3905400" cy="10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 name="Google Shape;41;p6"/>
            <p:cNvSpPr txBox="1"/>
            <p:nvPr/>
          </p:nvSpPr>
          <p:spPr>
            <a:xfrm>
              <a:off x="0" y="0"/>
              <a:ext cx="39054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885">
                  <a:solidFill>
                    <a:srgbClr val="B3261E"/>
                  </a:solidFill>
                  <a:latin typeface="Consolas"/>
                  <a:ea typeface="Consolas"/>
                  <a:cs typeface="Consolas"/>
                  <a:sym typeface="Consolas"/>
                </a:rPr>
                <a:t>1.59M</a:t>
              </a:r>
              <a:endParaRPr b="1" sz="3885">
                <a:solidFill>
                  <a:srgbClr val="B3261E"/>
                </a:solidFill>
                <a:latin typeface="Consolas"/>
                <a:ea typeface="Consolas"/>
                <a:cs typeface="Consolas"/>
                <a:sym typeface="Consolas"/>
              </a:endParaRPr>
            </a:p>
            <a:p>
              <a:pPr indent="0" lvl="0" marL="0" rtl="0" algn="l">
                <a:spcBef>
                  <a:spcPts val="300"/>
                </a:spcBef>
                <a:spcAft>
                  <a:spcPts val="0"/>
                </a:spcAft>
                <a:buNone/>
              </a:pPr>
              <a:r>
                <a:rPr i="1" lang="en" sz="1156">
                  <a:solidFill>
                    <a:srgbClr val="3F4247"/>
                  </a:solidFill>
                  <a:latin typeface="Georgia"/>
                  <a:ea typeface="Georgia"/>
                  <a:cs typeface="Georgia"/>
                  <a:sym typeface="Georgia"/>
                </a:rPr>
                <a:t>Cybersecurity incidents handled by CERT-In in 2023 — a volume that continues to surge.</a:t>
              </a:r>
              <a:endParaRPr i="1" sz="1156">
                <a:solidFill>
                  <a:srgbClr val="3F4247"/>
                </a:solidFill>
                <a:latin typeface="Georgia"/>
                <a:ea typeface="Georgia"/>
                <a:cs typeface="Georgia"/>
                <a:sym typeface="Georgia"/>
              </a:endParaRPr>
            </a:p>
          </p:txBody>
        </p:sp>
      </p:grpSp>
      <p:grpSp>
        <p:nvGrpSpPr>
          <p:cNvPr id="42" name="Google Shape;42;p6"/>
          <p:cNvGrpSpPr/>
          <p:nvPr/>
        </p:nvGrpSpPr>
        <p:grpSpPr>
          <a:xfrm>
            <a:off x="457200" y="2095500"/>
            <a:ext cx="3905400" cy="1000200"/>
            <a:chOff x="0" y="0"/>
            <a:chExt cx="3905400" cy="1000200"/>
          </a:xfrm>
        </p:grpSpPr>
        <p:sp>
          <p:nvSpPr>
            <p:cNvPr id="43" name="Google Shape;43;p6"/>
            <p:cNvSpPr/>
            <p:nvPr/>
          </p:nvSpPr>
          <p:spPr>
            <a:xfrm>
              <a:off x="0" y="0"/>
              <a:ext cx="3905400" cy="10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 name="Google Shape;44;p6"/>
            <p:cNvSpPr txBox="1"/>
            <p:nvPr/>
          </p:nvSpPr>
          <p:spPr>
            <a:xfrm>
              <a:off x="0" y="0"/>
              <a:ext cx="39054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885">
                  <a:solidFill>
                    <a:srgbClr val="B3261E"/>
                  </a:solidFill>
                  <a:latin typeface="Consolas"/>
                  <a:ea typeface="Consolas"/>
                  <a:cs typeface="Consolas"/>
                  <a:sym typeface="Consolas"/>
                </a:rPr>
                <a:t>70%</a:t>
              </a:r>
              <a:endParaRPr b="1" sz="3885">
                <a:solidFill>
                  <a:srgbClr val="B3261E"/>
                </a:solidFill>
                <a:latin typeface="Consolas"/>
                <a:ea typeface="Consolas"/>
                <a:cs typeface="Consolas"/>
                <a:sym typeface="Consolas"/>
              </a:endParaRPr>
            </a:p>
            <a:p>
              <a:pPr indent="0" lvl="0" marL="0" rtl="0" algn="l">
                <a:spcBef>
                  <a:spcPts val="300"/>
                </a:spcBef>
                <a:spcAft>
                  <a:spcPts val="0"/>
                </a:spcAft>
                <a:buNone/>
              </a:pPr>
              <a:r>
                <a:rPr i="1" lang="en" sz="1156">
                  <a:solidFill>
                    <a:srgbClr val="3F4247"/>
                  </a:solidFill>
                  <a:latin typeface="Georgia"/>
                  <a:ea typeface="Georgia"/>
                  <a:cs typeface="Georgia"/>
                  <a:sym typeface="Georgia"/>
                </a:rPr>
                <a:t>Of public &amp; government entities still run critical workloads on end-of-life IT infrastructure.</a:t>
              </a:r>
              <a:endParaRPr i="1" sz="1156">
                <a:solidFill>
                  <a:srgbClr val="3F4247"/>
                </a:solidFill>
                <a:latin typeface="Georgia"/>
                <a:ea typeface="Georgia"/>
                <a:cs typeface="Georgia"/>
                <a:sym typeface="Georgia"/>
              </a:endParaRPr>
            </a:p>
          </p:txBody>
        </p:sp>
      </p:grpSp>
      <p:grpSp>
        <p:nvGrpSpPr>
          <p:cNvPr id="45" name="Google Shape;45;p6"/>
          <p:cNvGrpSpPr/>
          <p:nvPr/>
        </p:nvGrpSpPr>
        <p:grpSpPr>
          <a:xfrm>
            <a:off x="457200" y="3286125"/>
            <a:ext cx="3905400" cy="1095300"/>
            <a:chOff x="0" y="0"/>
            <a:chExt cx="3905400" cy="1095300"/>
          </a:xfrm>
        </p:grpSpPr>
        <p:sp>
          <p:nvSpPr>
            <p:cNvPr id="46" name="Google Shape;46;p6"/>
            <p:cNvSpPr/>
            <p:nvPr/>
          </p:nvSpPr>
          <p:spPr>
            <a:xfrm>
              <a:off x="0" y="0"/>
              <a:ext cx="3905400" cy="1095300"/>
            </a:xfrm>
            <a:prstGeom prst="roundRect">
              <a:avLst>
                <a:gd fmla="val 6956" name="adj"/>
              </a:avLst>
            </a:prstGeom>
            <a:solidFill>
              <a:srgbClr val="F4F1E8"/>
            </a:solidFill>
            <a:ln cap="flat" cmpd="sng" w="1430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 name="Google Shape;47;p6"/>
            <p:cNvSpPr/>
            <p:nvPr/>
          </p:nvSpPr>
          <p:spPr>
            <a:xfrm>
              <a:off x="0" y="0"/>
              <a:ext cx="57300" cy="1095300"/>
            </a:xfrm>
            <a:prstGeom prst="roundRect">
              <a:avLst>
                <a:gd fmla="val 33333" name="adj"/>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 name="Google Shape;48;p6"/>
            <p:cNvSpPr txBox="1"/>
            <p:nvPr/>
          </p:nvSpPr>
          <p:spPr>
            <a:xfrm>
              <a:off x="190500" y="0"/>
              <a:ext cx="3619500" cy="10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B3261E"/>
                  </a:solidFill>
                  <a:latin typeface="Consolas"/>
                  <a:ea typeface="Consolas"/>
                  <a:cs typeface="Consolas"/>
                  <a:sym typeface="Consolas"/>
                </a:rPr>
                <a:t>RECENT TARGETS</a:t>
              </a:r>
              <a:endParaRPr b="1" sz="900">
                <a:solidFill>
                  <a:srgbClr val="B3261E"/>
                </a:solidFill>
                <a:latin typeface="Consolas"/>
                <a:ea typeface="Consolas"/>
                <a:cs typeface="Consolas"/>
                <a:sym typeface="Consolas"/>
              </a:endParaRPr>
            </a:p>
            <a:p>
              <a:pPr indent="0" lvl="0" marL="0" rtl="0" algn="l">
                <a:spcBef>
                  <a:spcPts val="300"/>
                </a:spcBef>
                <a:spcAft>
                  <a:spcPts val="0"/>
                </a:spcAft>
                <a:buNone/>
              </a:pPr>
              <a:r>
                <a:rPr b="1" lang="en" sz="1150">
                  <a:solidFill>
                    <a:srgbClr val="16181C"/>
                  </a:solidFill>
                  <a:latin typeface="Georgia"/>
                  <a:ea typeface="Georgia"/>
                  <a:cs typeface="Georgia"/>
                  <a:sym typeface="Georgia"/>
                </a:rPr>
                <a:t>AIIMS Delhi (2022) / CBSE (2024, 2026)</a:t>
              </a:r>
              <a:endParaRPr b="1" sz="1150">
                <a:solidFill>
                  <a:srgbClr val="16181C"/>
                </a:solidFill>
                <a:latin typeface="Georgia"/>
                <a:ea typeface="Georgia"/>
                <a:cs typeface="Georgia"/>
                <a:sym typeface="Georgia"/>
              </a:endParaRPr>
            </a:p>
            <a:p>
              <a:pPr indent="0" lvl="0" marL="0" rtl="0" algn="l">
                <a:spcBef>
                  <a:spcPts val="300"/>
                </a:spcBef>
                <a:spcAft>
                  <a:spcPts val="0"/>
                </a:spcAft>
                <a:buNone/>
              </a:pPr>
              <a:r>
                <a:rPr i="1" lang="en" sz="1100">
                  <a:solidFill>
                    <a:srgbClr val="3F4247"/>
                  </a:solidFill>
                  <a:latin typeface="Georgia"/>
                  <a:ea typeface="Georgia"/>
                  <a:cs typeface="Georgia"/>
                  <a:sym typeface="Georgia"/>
                </a:rPr>
                <a:t>India's vital public institutions remain highly vulnerable and under continuous exploit pressure.</a:t>
              </a:r>
              <a:endParaRPr i="1" sz="1100">
                <a:solidFill>
                  <a:srgbClr val="3F4247"/>
                </a:solidFill>
                <a:latin typeface="Georgia"/>
                <a:ea typeface="Georgia"/>
                <a:cs typeface="Georgia"/>
                <a:sym typeface="Georgia"/>
              </a:endParaRPr>
            </a:p>
          </p:txBody>
        </p:sp>
      </p:grpSp>
      <p:sp>
        <p:nvSpPr>
          <p:cNvPr id="49" name="Google Shape;49;p6"/>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50" name="Google Shape;50;p6"/>
          <p:cNvSpPr txBox="1"/>
          <p:nvPr/>
        </p:nvSpPr>
        <p:spPr>
          <a:xfrm>
            <a:off x="452046" y="4891325"/>
            <a:ext cx="53148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Source: CERT-In (2023) / public incident reporting</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7"/>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56" name="Google Shape;56;p7"/>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03</a:t>
            </a:r>
            <a:endParaRPr sz="1100"/>
          </a:p>
        </p:txBody>
      </p:sp>
      <p:sp>
        <p:nvSpPr>
          <p:cNvPr id="57" name="Google Shape;57;p7"/>
          <p:cNvSpPr/>
          <p:nvPr/>
        </p:nvSpPr>
        <p:spPr>
          <a:xfrm>
            <a:off x="457200" y="857250"/>
            <a:ext cx="57300" cy="8097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7"/>
          <p:cNvSpPr txBox="1"/>
          <p:nvPr/>
        </p:nvSpPr>
        <p:spPr>
          <a:xfrm>
            <a:off x="647700" y="857250"/>
            <a:ext cx="4000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16181C"/>
                </a:solidFill>
                <a:latin typeface="Impact"/>
                <a:ea typeface="Impact"/>
                <a:cs typeface="Impact"/>
                <a:sym typeface="Impact"/>
              </a:rPr>
              <a:t>The failure isn't alerts.</a:t>
            </a:r>
            <a:endParaRPr sz="2800">
              <a:solidFill>
                <a:srgbClr val="16181C"/>
              </a:solidFill>
              <a:latin typeface="Impact"/>
              <a:ea typeface="Impact"/>
              <a:cs typeface="Impact"/>
              <a:sym typeface="Impact"/>
            </a:endParaRPr>
          </a:p>
          <a:p>
            <a:pPr indent="0" lvl="0" marL="0" rtl="0" algn="l">
              <a:spcBef>
                <a:spcPts val="0"/>
              </a:spcBef>
              <a:spcAft>
                <a:spcPts val="0"/>
              </a:spcAft>
              <a:buNone/>
            </a:pPr>
            <a:r>
              <a:rPr lang="en" sz="2800">
                <a:solidFill>
                  <a:srgbClr val="B3261E"/>
                </a:solidFill>
                <a:latin typeface="Impact"/>
                <a:ea typeface="Impact"/>
                <a:cs typeface="Impact"/>
                <a:sym typeface="Impact"/>
              </a:rPr>
              <a:t>It's detection speed.</a:t>
            </a:r>
            <a:endParaRPr sz="2800">
              <a:solidFill>
                <a:srgbClr val="B3261E"/>
              </a:solidFill>
              <a:latin typeface="Impact"/>
              <a:ea typeface="Impact"/>
              <a:cs typeface="Impact"/>
              <a:sym typeface="Impact"/>
            </a:endParaRPr>
          </a:p>
        </p:txBody>
      </p:sp>
      <p:sp>
        <p:nvSpPr>
          <p:cNvPr id="59" name="Google Shape;59;p7"/>
          <p:cNvSpPr txBox="1"/>
          <p:nvPr/>
        </p:nvSpPr>
        <p:spPr>
          <a:xfrm>
            <a:off x="457200" y="1857375"/>
            <a:ext cx="4191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SIGNATURE-BASED LIMITATION</a:t>
            </a:r>
            <a:endParaRPr b="1" sz="1000">
              <a:solidFill>
                <a:srgbClr val="6B6E73"/>
              </a:solidFill>
              <a:latin typeface="Consolas"/>
              <a:ea typeface="Consolas"/>
              <a:cs typeface="Consolas"/>
              <a:sym typeface="Consolas"/>
            </a:endParaRPr>
          </a:p>
          <a:p>
            <a:pPr indent="0" lvl="0" marL="0" rtl="0" algn="l">
              <a:spcBef>
                <a:spcPts val="450"/>
              </a:spcBef>
              <a:spcAft>
                <a:spcPts val="0"/>
              </a:spcAft>
              <a:buNone/>
            </a:pPr>
            <a:r>
              <a:rPr b="0" lang="en" sz="1300">
                <a:solidFill>
                  <a:srgbClr val="16181C"/>
                </a:solidFill>
                <a:latin typeface="Georgia"/>
                <a:ea typeface="Georgia"/>
                <a:cs typeface="Georgia"/>
                <a:sym typeface="Georgia"/>
              </a:rPr>
              <a:t>Signature-based tools can't see an advanced persistent threat that never matches a known signature and deliberately moves low-and-slow.</a:t>
            </a:r>
            <a:endParaRPr b="0" sz="1300">
              <a:solidFill>
                <a:srgbClr val="16181C"/>
              </a:solidFill>
              <a:latin typeface="Georgia"/>
              <a:ea typeface="Georgia"/>
              <a:cs typeface="Georgia"/>
              <a:sym typeface="Georgia"/>
            </a:endParaRPr>
          </a:p>
        </p:txBody>
      </p:sp>
      <p:sp>
        <p:nvSpPr>
          <p:cNvPr id="60" name="Google Shape;60;p7"/>
          <p:cNvSpPr txBox="1"/>
          <p:nvPr/>
        </p:nvSpPr>
        <p:spPr>
          <a:xfrm>
            <a:off x="457200" y="3095625"/>
            <a:ext cx="4191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3261E"/>
                </a:solidFill>
                <a:latin typeface="Consolas"/>
                <a:ea typeface="Consolas"/>
                <a:cs typeface="Consolas"/>
                <a:sym typeface="Consolas"/>
              </a:rPr>
              <a:t>BEHAVIORAL INTELLIGENCE LAYER</a:t>
            </a:r>
            <a:endParaRPr b="1" sz="1000">
              <a:solidFill>
                <a:srgbClr val="B3261E"/>
              </a:solidFill>
              <a:latin typeface="Consolas"/>
              <a:ea typeface="Consolas"/>
              <a:cs typeface="Consolas"/>
              <a:sym typeface="Consolas"/>
            </a:endParaRPr>
          </a:p>
          <a:p>
            <a:pPr indent="0" lvl="0" marL="0" rtl="0" algn="l">
              <a:spcBef>
                <a:spcPts val="450"/>
              </a:spcBef>
              <a:spcAft>
                <a:spcPts val="0"/>
              </a:spcAft>
              <a:buNone/>
            </a:pPr>
            <a:r>
              <a:rPr b="0" lang="en" sz="1300">
                <a:solidFill>
                  <a:srgbClr val="3F4247"/>
                </a:solidFill>
                <a:latin typeface="Georgia"/>
                <a:ea typeface="Georgia"/>
                <a:cs typeface="Georgia"/>
                <a:sym typeface="Georgia"/>
              </a:rPr>
              <a:t>What's missing is a behavioral intelligence layer — one that correlates weak signals across a kill chain and acts fast enough that response happens in hours, not weeks.</a:t>
            </a:r>
            <a:endParaRPr b="0" sz="1300">
              <a:solidFill>
                <a:srgbClr val="3F4247"/>
              </a:solidFill>
              <a:latin typeface="Georgia"/>
              <a:ea typeface="Georgia"/>
              <a:cs typeface="Georgia"/>
              <a:sym typeface="Georgia"/>
            </a:endParaRPr>
          </a:p>
        </p:txBody>
      </p:sp>
      <p:grpSp>
        <p:nvGrpSpPr>
          <p:cNvPr id="61" name="Google Shape;61;p7"/>
          <p:cNvGrpSpPr/>
          <p:nvPr/>
        </p:nvGrpSpPr>
        <p:grpSpPr>
          <a:xfrm>
            <a:off x="4953000" y="857250"/>
            <a:ext cx="3733800" cy="3571800"/>
            <a:chOff x="0" y="0"/>
            <a:chExt cx="3733800" cy="3571800"/>
          </a:xfrm>
        </p:grpSpPr>
        <p:pic>
          <p:nvPicPr>
            <p:cNvPr descr="A high-quality, professional abstract cybersecurity interface showing real-time threat detection and network anomalies, glowing red threat nodes, with dark technical elements, digital visual art style." id="62" name="Google Shape;62;p7"/>
            <p:cNvPicPr preferRelativeResize="0"/>
            <p:nvPr/>
          </p:nvPicPr>
          <p:blipFill rotWithShape="1">
            <a:blip r:embed="rId3">
              <a:alphaModFix/>
            </a:blip>
            <a:srcRect b="2162" l="0" r="0" t="2172"/>
            <a:stretch/>
          </p:blipFill>
          <p:spPr>
            <a:xfrm>
              <a:off x="0" y="0"/>
              <a:ext cx="3733800" cy="3571800"/>
            </a:xfrm>
            <a:prstGeom prst="roundRect">
              <a:avLst>
                <a:gd fmla="val 4266" name="adj"/>
              </a:avLst>
            </a:prstGeom>
            <a:noFill/>
            <a:ln>
              <a:noFill/>
            </a:ln>
          </p:spPr>
        </p:pic>
        <p:sp>
          <p:nvSpPr>
            <p:cNvPr id="63" name="Google Shape;63;p7"/>
            <p:cNvSpPr/>
            <p:nvPr/>
          </p:nvSpPr>
          <p:spPr>
            <a:xfrm>
              <a:off x="0" y="0"/>
              <a:ext cx="3733800" cy="3571800"/>
            </a:xfrm>
            <a:prstGeom prst="roundRect">
              <a:avLst>
                <a:gd fmla="val 4266" name="adj"/>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 name="Google Shape;64;p7"/>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65" name="Google Shape;65;p7"/>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8"/>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71" name="Google Shape;71;p8"/>
          <p:cNvSpPr txBox="1"/>
          <p:nvPr/>
        </p:nvSpPr>
        <p:spPr>
          <a:xfrm>
            <a:off x="442913" y="88582"/>
            <a:ext cx="7098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Three agents. Not one dashboard.</a:t>
            </a:r>
            <a:endParaRPr sz="1100"/>
          </a:p>
        </p:txBody>
      </p:sp>
      <p:sp>
        <p:nvSpPr>
          <p:cNvPr id="72" name="Google Shape;72;p8"/>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04</a:t>
            </a:r>
            <a:endParaRPr sz="1100"/>
          </a:p>
        </p:txBody>
      </p:sp>
      <p:sp>
        <p:nvSpPr>
          <p:cNvPr id="73" name="Google Shape;73;p8"/>
          <p:cNvSpPr txBox="1"/>
          <p:nvPr/>
        </p:nvSpPr>
        <p:spPr>
          <a:xfrm>
            <a:off x="450342" y="568643"/>
            <a:ext cx="81330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 sz="1400">
                <a:solidFill>
                  <a:schemeClr val="dk2"/>
                </a:solidFill>
                <a:latin typeface="Georgia"/>
                <a:ea typeface="Georgia"/>
                <a:cs typeface="Georgia"/>
                <a:sym typeface="Georgia"/>
              </a:rPr>
              <a:t>Detection, attribution, and response are wired end-to-end, feeding a live dashboard.</a:t>
            </a:r>
            <a:endParaRPr sz="1100"/>
          </a:p>
        </p:txBody>
      </p:sp>
      <p:grpSp>
        <p:nvGrpSpPr>
          <p:cNvPr id="74" name="Google Shape;74;p8"/>
          <p:cNvGrpSpPr/>
          <p:nvPr/>
        </p:nvGrpSpPr>
        <p:grpSpPr>
          <a:xfrm>
            <a:off x="457200" y="1095375"/>
            <a:ext cx="1828800" cy="3429000"/>
            <a:chOff x="0" y="0"/>
            <a:chExt cx="1828800" cy="3429000"/>
          </a:xfrm>
        </p:grpSpPr>
        <p:sp>
          <p:nvSpPr>
            <p:cNvPr id="75" name="Google Shape;75;p8"/>
            <p:cNvSpPr/>
            <p:nvPr/>
          </p:nvSpPr>
          <p:spPr>
            <a:xfrm>
              <a:off x="0" y="0"/>
              <a:ext cx="1828800" cy="34290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8"/>
            <p:cNvSpPr/>
            <p:nvPr/>
          </p:nvSpPr>
          <p:spPr>
            <a:xfrm>
              <a:off x="0" y="0"/>
              <a:ext cx="1828800" cy="400200"/>
            </a:xfrm>
            <a:prstGeom prst="rect">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8"/>
            <p:cNvSpPr txBox="1"/>
            <p:nvPr/>
          </p:nvSpPr>
          <p:spPr>
            <a:xfrm>
              <a:off x="114300" y="0"/>
              <a:ext cx="16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B3261E"/>
                  </a:solidFill>
                  <a:latin typeface="Consolas"/>
                  <a:ea typeface="Consolas"/>
                  <a:cs typeface="Consolas"/>
                  <a:sym typeface="Consolas"/>
                </a:rPr>
                <a:t>01</a:t>
              </a:r>
              <a:r>
                <a:rPr b="0" lang="en" sz="1200">
                  <a:solidFill>
                    <a:srgbClr val="F4F1E8"/>
                  </a:solidFill>
                  <a:latin typeface="Impact"/>
                  <a:ea typeface="Impact"/>
                  <a:cs typeface="Impact"/>
                  <a:sym typeface="Impact"/>
                </a:rPr>
                <a:t>Detection</a:t>
              </a:r>
              <a:endParaRPr b="1" sz="1100">
                <a:solidFill>
                  <a:srgbClr val="F4F1E8"/>
                </a:solidFill>
                <a:latin typeface="Consolas"/>
                <a:ea typeface="Consolas"/>
                <a:cs typeface="Consolas"/>
                <a:sym typeface="Consolas"/>
              </a:endParaRPr>
            </a:p>
          </p:txBody>
        </p:sp>
        <p:sp>
          <p:nvSpPr>
            <p:cNvPr id="78" name="Google Shape;78;p8"/>
            <p:cNvSpPr txBox="1"/>
            <p:nvPr/>
          </p:nvSpPr>
          <p:spPr>
            <a:xfrm>
              <a:off x="114300" y="514350"/>
              <a:ext cx="16002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Isolation Forest, unsupervised — no signatures anywhere.</a:t>
              </a:r>
              <a:endParaRPr b="1" sz="1100">
                <a:solidFill>
                  <a:srgbClr val="16181C"/>
                </a:solidFill>
                <a:latin typeface="Georgia"/>
                <a:ea typeface="Georgia"/>
                <a:cs typeface="Georgia"/>
                <a:sym typeface="Georgia"/>
              </a:endParaRPr>
            </a:p>
            <a:p>
              <a:pPr indent="0" lvl="0" marL="0" rtl="0" algn="l">
                <a:spcBef>
                  <a:spcPts val="900"/>
                </a:spcBef>
                <a:spcAft>
                  <a:spcPts val="0"/>
                </a:spcAft>
                <a:buNone/>
              </a:pPr>
              <a:r>
                <a:rPr i="1" lang="en" sz="1100">
                  <a:solidFill>
                    <a:srgbClr val="555555"/>
                  </a:solidFill>
                  <a:latin typeface="Georgia"/>
                  <a:ea typeface="Georgia"/>
                  <a:cs typeface="Georgia"/>
                  <a:sym typeface="Georgia"/>
                </a:rPr>
                <a:t>Learns "normal," flags what isn't.</a:t>
              </a:r>
              <a:endParaRPr i="1" sz="1100">
                <a:solidFill>
                  <a:srgbClr val="555555"/>
                </a:solidFill>
                <a:latin typeface="Georgia"/>
                <a:ea typeface="Georgia"/>
                <a:cs typeface="Georgia"/>
                <a:sym typeface="Georgia"/>
              </a:endParaRPr>
            </a:p>
          </p:txBody>
        </p:sp>
        <p:pic>
          <p:nvPicPr>
            <p:cNvPr id="79" name="Google Shape;79;p8"/>
            <p:cNvPicPr preferRelativeResize="0"/>
            <p:nvPr/>
          </p:nvPicPr>
          <p:blipFill rotWithShape="1">
            <a:blip r:embed="rId3">
              <a:alphaModFix/>
            </a:blip>
            <a:srcRect b="0" l="0" r="0" t="0"/>
            <a:stretch/>
          </p:blipFill>
          <p:spPr>
            <a:xfrm>
              <a:off x="114300" y="2614613"/>
              <a:ext cx="1562100" cy="9600"/>
            </a:xfrm>
            <a:prstGeom prst="rect">
              <a:avLst/>
            </a:prstGeom>
            <a:noFill/>
            <a:ln>
              <a:noFill/>
            </a:ln>
          </p:spPr>
        </p:pic>
        <p:sp>
          <p:nvSpPr>
            <p:cNvPr id="80" name="Google Shape;80;p8"/>
            <p:cNvSpPr txBox="1"/>
            <p:nvPr/>
          </p:nvSpPr>
          <p:spPr>
            <a:xfrm>
              <a:off x="114300" y="2714625"/>
              <a:ext cx="16002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6B6E73"/>
                  </a:solidFill>
                  <a:latin typeface="Consolas"/>
                  <a:ea typeface="Consolas"/>
                  <a:cs typeface="Consolas"/>
                  <a:sym typeface="Consolas"/>
                </a:rPr>
                <a:t>OUTPUT →</a:t>
              </a:r>
              <a:endParaRPr b="1" sz="800">
                <a:solidFill>
                  <a:srgbClr val="6B6E73"/>
                </a:solidFill>
                <a:latin typeface="Consolas"/>
                <a:ea typeface="Consolas"/>
                <a:cs typeface="Consolas"/>
                <a:sym typeface="Consolas"/>
              </a:endParaRPr>
            </a:p>
            <a:p>
              <a:pPr indent="0" lvl="0" marL="0" rtl="0" algn="l">
                <a:spcBef>
                  <a:spcPts val="300"/>
                </a:spcBef>
                <a:spcAft>
                  <a:spcPts val="0"/>
                </a:spcAft>
                <a:buNone/>
              </a:pPr>
              <a:r>
                <a:rPr b="1" lang="en" sz="1000">
                  <a:solidFill>
                    <a:srgbClr val="B3261E"/>
                  </a:solidFill>
                  <a:latin typeface="Consolas"/>
                  <a:ea typeface="Consolas"/>
                  <a:cs typeface="Consolas"/>
                  <a:sym typeface="Consolas"/>
                </a:rPr>
                <a:t>anomaly_event</a:t>
              </a:r>
              <a:endParaRPr b="1" sz="1000">
                <a:solidFill>
                  <a:srgbClr val="B3261E"/>
                </a:solidFill>
                <a:latin typeface="Consolas"/>
                <a:ea typeface="Consolas"/>
                <a:cs typeface="Consolas"/>
                <a:sym typeface="Consolas"/>
              </a:endParaRPr>
            </a:p>
          </p:txBody>
        </p:sp>
      </p:grpSp>
      <p:sp>
        <p:nvSpPr>
          <p:cNvPr id="81" name="Google Shape;81;p8"/>
          <p:cNvSpPr/>
          <p:nvPr/>
        </p:nvSpPr>
        <p:spPr>
          <a:xfrm>
            <a:off x="2352675" y="2714625"/>
            <a:ext cx="86100" cy="114300"/>
          </a:xfrm>
          <a:custGeom>
            <a:rect b="b" l="l" r="r" t="t"/>
            <a:pathLst>
              <a:path extrusionOk="0" h="120000" w="120000">
                <a:moveTo>
                  <a:pt x="0" y="0"/>
                </a:moveTo>
                <a:lnTo>
                  <a:pt x="120000" y="60000"/>
                </a:lnTo>
                <a:lnTo>
                  <a:pt x="0" y="120000"/>
                </a:ln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2" name="Google Shape;82;p8"/>
          <p:cNvGrpSpPr/>
          <p:nvPr/>
        </p:nvGrpSpPr>
        <p:grpSpPr>
          <a:xfrm>
            <a:off x="2590800" y="1095375"/>
            <a:ext cx="1828800" cy="3429000"/>
            <a:chOff x="0" y="0"/>
            <a:chExt cx="1828800" cy="3429000"/>
          </a:xfrm>
        </p:grpSpPr>
        <p:sp>
          <p:nvSpPr>
            <p:cNvPr id="83" name="Google Shape;83;p8"/>
            <p:cNvSpPr/>
            <p:nvPr/>
          </p:nvSpPr>
          <p:spPr>
            <a:xfrm>
              <a:off x="0" y="0"/>
              <a:ext cx="1828800" cy="34290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8"/>
            <p:cNvSpPr/>
            <p:nvPr/>
          </p:nvSpPr>
          <p:spPr>
            <a:xfrm>
              <a:off x="0" y="0"/>
              <a:ext cx="1828800" cy="400200"/>
            </a:xfrm>
            <a:prstGeom prst="rect">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8"/>
            <p:cNvSpPr txBox="1"/>
            <p:nvPr/>
          </p:nvSpPr>
          <p:spPr>
            <a:xfrm>
              <a:off x="114300" y="0"/>
              <a:ext cx="16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B3261E"/>
                  </a:solidFill>
                  <a:latin typeface="Consolas"/>
                  <a:ea typeface="Consolas"/>
                  <a:cs typeface="Consolas"/>
                  <a:sym typeface="Consolas"/>
                </a:rPr>
                <a:t>02</a:t>
              </a:r>
              <a:r>
                <a:rPr b="0" lang="en" sz="1200">
                  <a:solidFill>
                    <a:srgbClr val="F4F1E8"/>
                  </a:solidFill>
                  <a:latin typeface="Impact"/>
                  <a:ea typeface="Impact"/>
                  <a:cs typeface="Impact"/>
                  <a:sym typeface="Impact"/>
                </a:rPr>
                <a:t>Attribution</a:t>
              </a:r>
              <a:endParaRPr b="1" sz="1100">
                <a:solidFill>
                  <a:srgbClr val="F4F1E8"/>
                </a:solidFill>
                <a:latin typeface="Consolas"/>
                <a:ea typeface="Consolas"/>
                <a:cs typeface="Consolas"/>
                <a:sym typeface="Consolas"/>
              </a:endParaRPr>
            </a:p>
          </p:txBody>
        </p:sp>
        <p:sp>
          <p:nvSpPr>
            <p:cNvPr id="86" name="Google Shape;86;p8"/>
            <p:cNvSpPr txBox="1"/>
            <p:nvPr/>
          </p:nvSpPr>
          <p:spPr>
            <a:xfrm>
              <a:off x="114300" y="514350"/>
              <a:ext cx="16002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RAG over ATT&amp;CK, CVE, CERT-In — cited, never invented.</a:t>
              </a:r>
              <a:endParaRPr b="1" sz="1100">
                <a:solidFill>
                  <a:srgbClr val="16181C"/>
                </a:solidFill>
                <a:latin typeface="Georgia"/>
                <a:ea typeface="Georgia"/>
                <a:cs typeface="Georgia"/>
                <a:sym typeface="Georgia"/>
              </a:endParaRPr>
            </a:p>
            <a:p>
              <a:pPr indent="0" lvl="0" marL="0" rtl="0" algn="l">
                <a:spcBef>
                  <a:spcPts val="900"/>
                </a:spcBef>
                <a:spcAft>
                  <a:spcPts val="0"/>
                </a:spcAft>
                <a:buNone/>
              </a:pPr>
              <a:r>
                <a:rPr i="1" lang="en" sz="1100">
                  <a:solidFill>
                    <a:srgbClr val="555555"/>
                  </a:solidFill>
                  <a:latin typeface="Georgia"/>
                  <a:ea typeface="Georgia"/>
                  <a:cs typeface="Georgia"/>
                  <a:sym typeface="Georgia"/>
                </a:rPr>
                <a:t>Maps anomaly to technique + next stage.</a:t>
              </a:r>
              <a:endParaRPr i="1" sz="1100">
                <a:solidFill>
                  <a:srgbClr val="555555"/>
                </a:solidFill>
                <a:latin typeface="Georgia"/>
                <a:ea typeface="Georgia"/>
                <a:cs typeface="Georgia"/>
                <a:sym typeface="Georgia"/>
              </a:endParaRPr>
            </a:p>
          </p:txBody>
        </p:sp>
        <p:pic>
          <p:nvPicPr>
            <p:cNvPr id="87" name="Google Shape;87;p8"/>
            <p:cNvPicPr preferRelativeResize="0"/>
            <p:nvPr/>
          </p:nvPicPr>
          <p:blipFill rotWithShape="1">
            <a:blip r:embed="rId3">
              <a:alphaModFix/>
            </a:blip>
            <a:srcRect b="0" l="0" r="0" t="0"/>
            <a:stretch/>
          </p:blipFill>
          <p:spPr>
            <a:xfrm>
              <a:off x="114300" y="2614613"/>
              <a:ext cx="1562100" cy="9600"/>
            </a:xfrm>
            <a:prstGeom prst="rect">
              <a:avLst/>
            </a:prstGeom>
            <a:noFill/>
            <a:ln>
              <a:noFill/>
            </a:ln>
          </p:spPr>
        </p:pic>
        <p:sp>
          <p:nvSpPr>
            <p:cNvPr id="88" name="Google Shape;88;p8"/>
            <p:cNvSpPr txBox="1"/>
            <p:nvPr/>
          </p:nvSpPr>
          <p:spPr>
            <a:xfrm>
              <a:off x="114300" y="2714625"/>
              <a:ext cx="16002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6B6E73"/>
                  </a:solidFill>
                  <a:latin typeface="Consolas"/>
                  <a:ea typeface="Consolas"/>
                  <a:cs typeface="Consolas"/>
                  <a:sym typeface="Consolas"/>
                </a:rPr>
                <a:t>OUTPUT →</a:t>
              </a:r>
              <a:endParaRPr b="1" sz="800">
                <a:solidFill>
                  <a:srgbClr val="6B6E73"/>
                </a:solidFill>
                <a:latin typeface="Consolas"/>
                <a:ea typeface="Consolas"/>
                <a:cs typeface="Consolas"/>
                <a:sym typeface="Consolas"/>
              </a:endParaRPr>
            </a:p>
            <a:p>
              <a:pPr indent="0" lvl="0" marL="0" rtl="0" algn="l">
                <a:spcBef>
                  <a:spcPts val="300"/>
                </a:spcBef>
                <a:spcAft>
                  <a:spcPts val="0"/>
                </a:spcAft>
                <a:buNone/>
              </a:pPr>
              <a:r>
                <a:rPr b="1" lang="en" sz="1000">
                  <a:solidFill>
                    <a:srgbClr val="B3261E"/>
                  </a:solidFill>
                  <a:latin typeface="Consolas"/>
                  <a:ea typeface="Consolas"/>
                  <a:cs typeface="Consolas"/>
                  <a:sym typeface="Consolas"/>
                </a:rPr>
                <a:t>enriched_incident</a:t>
              </a:r>
              <a:endParaRPr b="1" sz="1000">
                <a:solidFill>
                  <a:srgbClr val="B3261E"/>
                </a:solidFill>
                <a:latin typeface="Consolas"/>
                <a:ea typeface="Consolas"/>
                <a:cs typeface="Consolas"/>
                <a:sym typeface="Consolas"/>
              </a:endParaRPr>
            </a:p>
          </p:txBody>
        </p:sp>
      </p:grpSp>
      <p:sp>
        <p:nvSpPr>
          <p:cNvPr id="89" name="Google Shape;89;p8"/>
          <p:cNvSpPr/>
          <p:nvPr/>
        </p:nvSpPr>
        <p:spPr>
          <a:xfrm>
            <a:off x="4486275" y="2714625"/>
            <a:ext cx="86100" cy="114300"/>
          </a:xfrm>
          <a:custGeom>
            <a:rect b="b" l="l" r="r" t="t"/>
            <a:pathLst>
              <a:path extrusionOk="0" h="120000" w="120000">
                <a:moveTo>
                  <a:pt x="0" y="0"/>
                </a:moveTo>
                <a:lnTo>
                  <a:pt x="120000" y="60000"/>
                </a:lnTo>
                <a:lnTo>
                  <a:pt x="0" y="120000"/>
                </a:ln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0" name="Google Shape;90;p8"/>
          <p:cNvGrpSpPr/>
          <p:nvPr/>
        </p:nvGrpSpPr>
        <p:grpSpPr>
          <a:xfrm>
            <a:off x="4724400" y="1095375"/>
            <a:ext cx="1828800" cy="3429000"/>
            <a:chOff x="0" y="0"/>
            <a:chExt cx="1828800" cy="3429000"/>
          </a:xfrm>
        </p:grpSpPr>
        <p:sp>
          <p:nvSpPr>
            <p:cNvPr id="91" name="Google Shape;91;p8"/>
            <p:cNvSpPr/>
            <p:nvPr/>
          </p:nvSpPr>
          <p:spPr>
            <a:xfrm>
              <a:off x="0" y="0"/>
              <a:ext cx="1828800" cy="34290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8"/>
            <p:cNvSpPr/>
            <p:nvPr/>
          </p:nvSpPr>
          <p:spPr>
            <a:xfrm>
              <a:off x="0" y="0"/>
              <a:ext cx="1828800" cy="400200"/>
            </a:xfrm>
            <a:prstGeom prst="rect">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8"/>
            <p:cNvSpPr txBox="1"/>
            <p:nvPr/>
          </p:nvSpPr>
          <p:spPr>
            <a:xfrm>
              <a:off x="114300" y="0"/>
              <a:ext cx="16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B3261E"/>
                  </a:solidFill>
                  <a:latin typeface="Consolas"/>
                  <a:ea typeface="Consolas"/>
                  <a:cs typeface="Consolas"/>
                  <a:sym typeface="Consolas"/>
                </a:rPr>
                <a:t>03</a:t>
              </a:r>
              <a:r>
                <a:rPr b="0" lang="en" sz="1200">
                  <a:solidFill>
                    <a:srgbClr val="F4F1E8"/>
                  </a:solidFill>
                  <a:latin typeface="Impact"/>
                  <a:ea typeface="Impact"/>
                  <a:cs typeface="Impact"/>
                  <a:sym typeface="Impact"/>
                </a:rPr>
                <a:t>Response</a:t>
              </a:r>
              <a:endParaRPr b="1" sz="1100">
                <a:solidFill>
                  <a:srgbClr val="F4F1E8"/>
                </a:solidFill>
                <a:latin typeface="Consolas"/>
                <a:ea typeface="Consolas"/>
                <a:cs typeface="Consolas"/>
                <a:sym typeface="Consolas"/>
              </a:endParaRPr>
            </a:p>
          </p:txBody>
        </p:sp>
        <p:sp>
          <p:nvSpPr>
            <p:cNvPr id="94" name="Google Shape;94;p8"/>
            <p:cNvSpPr txBox="1"/>
            <p:nvPr/>
          </p:nvSpPr>
          <p:spPr>
            <a:xfrm>
              <a:off x="114300" y="514350"/>
              <a:ext cx="16002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Policy-driven, human-approval gate above a blast-radius threshold.</a:t>
              </a:r>
              <a:endParaRPr b="1" sz="1100">
                <a:solidFill>
                  <a:srgbClr val="16181C"/>
                </a:solidFill>
                <a:latin typeface="Georgia"/>
                <a:ea typeface="Georgia"/>
                <a:cs typeface="Georgia"/>
                <a:sym typeface="Georgia"/>
              </a:endParaRPr>
            </a:p>
            <a:p>
              <a:pPr indent="0" lvl="0" marL="0" rtl="0" algn="l">
                <a:spcBef>
                  <a:spcPts val="900"/>
                </a:spcBef>
                <a:spcAft>
                  <a:spcPts val="0"/>
                </a:spcAft>
                <a:buNone/>
              </a:pPr>
              <a:r>
                <a:rPr i="1" lang="en" sz="1100">
                  <a:solidFill>
                    <a:srgbClr val="555555"/>
                  </a:solidFill>
                  <a:latin typeface="Georgia"/>
                  <a:ea typeface="Georgia"/>
                  <a:cs typeface="Georgia"/>
                  <a:sym typeface="Georgia"/>
                </a:rPr>
                <a:t>Hash-chained audit, SSE live stream.</a:t>
              </a:r>
              <a:endParaRPr i="1" sz="1100">
                <a:solidFill>
                  <a:srgbClr val="555555"/>
                </a:solidFill>
                <a:latin typeface="Georgia"/>
                <a:ea typeface="Georgia"/>
                <a:cs typeface="Georgia"/>
                <a:sym typeface="Georgia"/>
              </a:endParaRPr>
            </a:p>
          </p:txBody>
        </p:sp>
        <p:pic>
          <p:nvPicPr>
            <p:cNvPr id="95" name="Google Shape;95;p8"/>
            <p:cNvPicPr preferRelativeResize="0"/>
            <p:nvPr/>
          </p:nvPicPr>
          <p:blipFill rotWithShape="1">
            <a:blip r:embed="rId3">
              <a:alphaModFix/>
            </a:blip>
            <a:srcRect b="0" l="0" r="0" t="0"/>
            <a:stretch/>
          </p:blipFill>
          <p:spPr>
            <a:xfrm>
              <a:off x="114300" y="2614613"/>
              <a:ext cx="1562100" cy="9600"/>
            </a:xfrm>
            <a:prstGeom prst="rect">
              <a:avLst/>
            </a:prstGeom>
            <a:noFill/>
            <a:ln>
              <a:noFill/>
            </a:ln>
          </p:spPr>
        </p:pic>
        <p:sp>
          <p:nvSpPr>
            <p:cNvPr id="96" name="Google Shape;96;p8"/>
            <p:cNvSpPr txBox="1"/>
            <p:nvPr/>
          </p:nvSpPr>
          <p:spPr>
            <a:xfrm>
              <a:off x="114300" y="2714625"/>
              <a:ext cx="16002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6B6E73"/>
                  </a:solidFill>
                  <a:latin typeface="Consolas"/>
                  <a:ea typeface="Consolas"/>
                  <a:cs typeface="Consolas"/>
                  <a:sym typeface="Consolas"/>
                </a:rPr>
                <a:t>OUTPUT →</a:t>
              </a:r>
              <a:endParaRPr b="1" sz="800">
                <a:solidFill>
                  <a:srgbClr val="6B6E73"/>
                </a:solidFill>
                <a:latin typeface="Consolas"/>
                <a:ea typeface="Consolas"/>
                <a:cs typeface="Consolas"/>
                <a:sym typeface="Consolas"/>
              </a:endParaRPr>
            </a:p>
            <a:p>
              <a:pPr indent="0" lvl="0" marL="0" rtl="0" algn="l">
                <a:spcBef>
                  <a:spcPts val="300"/>
                </a:spcBef>
                <a:spcAft>
                  <a:spcPts val="0"/>
                </a:spcAft>
                <a:buNone/>
              </a:pPr>
              <a:r>
                <a:rPr b="1" lang="en" sz="1000">
                  <a:solidFill>
                    <a:srgbClr val="B3261E"/>
                  </a:solidFill>
                  <a:latin typeface="Consolas"/>
                  <a:ea typeface="Consolas"/>
                  <a:cs typeface="Consolas"/>
                  <a:sym typeface="Consolas"/>
                </a:rPr>
                <a:t>containment_action</a:t>
              </a:r>
              <a:endParaRPr b="1" sz="1000">
                <a:solidFill>
                  <a:srgbClr val="B3261E"/>
                </a:solidFill>
                <a:latin typeface="Consolas"/>
                <a:ea typeface="Consolas"/>
                <a:cs typeface="Consolas"/>
                <a:sym typeface="Consolas"/>
              </a:endParaRPr>
            </a:p>
          </p:txBody>
        </p:sp>
      </p:grpSp>
      <p:sp>
        <p:nvSpPr>
          <p:cNvPr id="97" name="Google Shape;97;p8"/>
          <p:cNvSpPr/>
          <p:nvPr/>
        </p:nvSpPr>
        <p:spPr>
          <a:xfrm>
            <a:off x="6619875" y="2714625"/>
            <a:ext cx="86100" cy="114300"/>
          </a:xfrm>
          <a:custGeom>
            <a:rect b="b" l="l" r="r" t="t"/>
            <a:pathLst>
              <a:path extrusionOk="0" h="120000" w="120000">
                <a:moveTo>
                  <a:pt x="0" y="0"/>
                </a:moveTo>
                <a:lnTo>
                  <a:pt x="120000" y="60000"/>
                </a:lnTo>
                <a:lnTo>
                  <a:pt x="0" y="120000"/>
                </a:ln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8"/>
          <p:cNvGrpSpPr/>
          <p:nvPr/>
        </p:nvGrpSpPr>
        <p:grpSpPr>
          <a:xfrm>
            <a:off x="6858000" y="1095375"/>
            <a:ext cx="1828800" cy="3429000"/>
            <a:chOff x="0" y="0"/>
            <a:chExt cx="1828800" cy="3429000"/>
          </a:xfrm>
        </p:grpSpPr>
        <p:sp>
          <p:nvSpPr>
            <p:cNvPr id="99" name="Google Shape;99;p8"/>
            <p:cNvSpPr/>
            <p:nvPr/>
          </p:nvSpPr>
          <p:spPr>
            <a:xfrm>
              <a:off x="0" y="0"/>
              <a:ext cx="1828800" cy="34290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8"/>
            <p:cNvSpPr/>
            <p:nvPr/>
          </p:nvSpPr>
          <p:spPr>
            <a:xfrm>
              <a:off x="0" y="0"/>
              <a:ext cx="1828800" cy="400200"/>
            </a:xfrm>
            <a:prstGeom prst="rect">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8"/>
            <p:cNvSpPr txBox="1"/>
            <p:nvPr/>
          </p:nvSpPr>
          <p:spPr>
            <a:xfrm>
              <a:off x="114300" y="0"/>
              <a:ext cx="16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B3261E"/>
                  </a:solidFill>
                  <a:latin typeface="Consolas"/>
                  <a:ea typeface="Consolas"/>
                  <a:cs typeface="Consolas"/>
                  <a:sym typeface="Consolas"/>
                </a:rPr>
                <a:t>04</a:t>
              </a:r>
              <a:r>
                <a:rPr b="0" lang="en" sz="1200">
                  <a:solidFill>
                    <a:srgbClr val="F4F1E8"/>
                  </a:solidFill>
                  <a:latin typeface="Impact"/>
                  <a:ea typeface="Impact"/>
                  <a:cs typeface="Impact"/>
                  <a:sym typeface="Impact"/>
                </a:rPr>
                <a:t>Dashboard</a:t>
              </a:r>
              <a:endParaRPr b="1" sz="1100">
                <a:solidFill>
                  <a:srgbClr val="F4F1E8"/>
                </a:solidFill>
                <a:latin typeface="Consolas"/>
                <a:ea typeface="Consolas"/>
                <a:cs typeface="Consolas"/>
                <a:sym typeface="Consolas"/>
              </a:endParaRPr>
            </a:p>
          </p:txBody>
        </p:sp>
        <p:sp>
          <p:nvSpPr>
            <p:cNvPr id="102" name="Google Shape;102;p8"/>
            <p:cNvSpPr txBox="1"/>
            <p:nvPr/>
          </p:nvSpPr>
          <p:spPr>
            <a:xfrm>
              <a:off x="114300" y="514350"/>
              <a:ext cx="16002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Live feed, MITRE map, attack-path graph, approvals, audit trail, metrics.</a:t>
              </a:r>
              <a:endParaRPr b="1" sz="1100">
                <a:solidFill>
                  <a:srgbClr val="16181C"/>
                </a:solidFill>
                <a:latin typeface="Georgia"/>
                <a:ea typeface="Georgia"/>
                <a:cs typeface="Georgia"/>
                <a:sym typeface="Georgia"/>
              </a:endParaRPr>
            </a:p>
            <a:p>
              <a:pPr indent="0" lvl="0" marL="0" rtl="0" algn="l">
                <a:spcBef>
                  <a:spcPts val="900"/>
                </a:spcBef>
                <a:spcAft>
                  <a:spcPts val="0"/>
                </a:spcAft>
                <a:buNone/>
              </a:pPr>
              <a:r>
                <a:rPr i="1" lang="en" sz="1000">
                  <a:solidFill>
                    <a:srgbClr val="6B6E73"/>
                  </a:solidFill>
                  <a:latin typeface="Georgia"/>
                  <a:ea typeface="Georgia"/>
                  <a:cs typeface="Georgia"/>
                  <a:sym typeface="Georgia"/>
                </a:rPr>
                <a:t>Consolidates and visualizes all upstream telemetry in real-time.</a:t>
              </a:r>
              <a:endParaRPr i="1" sz="1000">
                <a:solidFill>
                  <a:srgbClr val="6B6E73"/>
                </a:solidFill>
                <a:latin typeface="Georgia"/>
                <a:ea typeface="Georgia"/>
                <a:cs typeface="Georgia"/>
                <a:sym typeface="Georgia"/>
              </a:endParaRPr>
            </a:p>
          </p:txBody>
        </p:sp>
      </p:grpSp>
      <p:sp>
        <p:nvSpPr>
          <p:cNvPr id="103" name="Google Shape;103;p8"/>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104" name="Google Shape;104;p8"/>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9"/>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110" name="Google Shape;110;p9"/>
          <p:cNvSpPr txBox="1"/>
          <p:nvPr/>
        </p:nvSpPr>
        <p:spPr>
          <a:xfrm>
            <a:off x="442913" y="88582"/>
            <a:ext cx="74193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Learns "normal." Flags what isn't.</a:t>
            </a:r>
            <a:endParaRPr sz="1100"/>
          </a:p>
        </p:txBody>
      </p:sp>
      <p:sp>
        <p:nvSpPr>
          <p:cNvPr id="111" name="Google Shape;111;p9"/>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05</a:t>
            </a:r>
            <a:endParaRPr sz="1100"/>
          </a:p>
        </p:txBody>
      </p:sp>
      <p:sp>
        <p:nvSpPr>
          <p:cNvPr id="112" name="Google Shape;112;p9"/>
          <p:cNvSpPr/>
          <p:nvPr/>
        </p:nvSpPr>
        <p:spPr>
          <a:xfrm>
            <a:off x="457200" y="1047750"/>
            <a:ext cx="2486100" cy="34290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9"/>
          <p:cNvSpPr/>
          <p:nvPr/>
        </p:nvSpPr>
        <p:spPr>
          <a:xfrm>
            <a:off x="457200" y="1047750"/>
            <a:ext cx="2486100" cy="573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9"/>
          <p:cNvSpPr/>
          <p:nvPr/>
        </p:nvSpPr>
        <p:spPr>
          <a:xfrm>
            <a:off x="747725" y="1285863"/>
            <a:ext cx="333374" cy="371205"/>
          </a:xfrm>
          <a:custGeom>
            <a:rect b="b" l="l" r="r" t="t"/>
            <a:pathLst>
              <a:path extrusionOk="0" h="494940" w="444499">
                <a:moveTo>
                  <a:pt x="187245" y="12259"/>
                </a:moveTo>
                <a:cubicBezTo>
                  <a:pt x="208021" y="802"/>
                  <a:pt x="233031" y="0"/>
                  <a:pt x="254498" y="10103"/>
                </a:cubicBezTo>
                <a:lnTo>
                  <a:pt x="258721" y="12259"/>
                </a:lnTo>
                <a:lnTo>
                  <a:pt x="409295" y="101047"/>
                </a:lnTo>
                <a:lnTo>
                  <a:pt x="411429" y="102448"/>
                </a:lnTo>
                <a:lnTo>
                  <a:pt x="413473" y="104159"/>
                </a:lnTo>
                <a:lnTo>
                  <a:pt x="415851" y="105826"/>
                </a:lnTo>
                <a:cubicBezTo>
                  <a:pt x="431459" y="117529"/>
                  <a:pt x="441620" y="135090"/>
                  <a:pt x="443988" y="154454"/>
                </a:cubicBezTo>
                <a:lnTo>
                  <a:pt x="444388" y="158943"/>
                </a:lnTo>
                <a:lnTo>
                  <a:pt x="444499" y="163477"/>
                </a:lnTo>
                <a:lnTo>
                  <a:pt x="444499" y="325364"/>
                </a:lnTo>
                <a:cubicBezTo>
                  <a:pt x="444499" y="349945"/>
                  <a:pt x="431831" y="372681"/>
                  <a:pt x="412184" y="385216"/>
                </a:cubicBezTo>
                <a:lnTo>
                  <a:pt x="408406" y="387438"/>
                </a:lnTo>
                <a:lnTo>
                  <a:pt x="257210" y="483050"/>
                </a:lnTo>
                <a:cubicBezTo>
                  <a:pt x="236807" y="494252"/>
                  <a:pt x="212337" y="494940"/>
                  <a:pt x="190446" y="484561"/>
                </a:cubicBezTo>
                <a:lnTo>
                  <a:pt x="186090" y="482339"/>
                </a:lnTo>
                <a:lnTo>
                  <a:pt x="37293" y="388172"/>
                </a:lnTo>
                <a:cubicBezTo>
                  <a:pt x="15769" y="376403"/>
                  <a:pt x="1758" y="354444"/>
                  <a:pt x="156" y="329965"/>
                </a:cubicBezTo>
                <a:lnTo>
                  <a:pt x="0" y="325364"/>
                </a:lnTo>
                <a:lnTo>
                  <a:pt x="0" y="163455"/>
                </a:lnTo>
                <a:cubicBezTo>
                  <a:pt x="0" y="138874"/>
                  <a:pt x="12668" y="116160"/>
                  <a:pt x="32804" y="103337"/>
                </a:cubicBezTo>
                <a:lnTo>
                  <a:pt x="187268" y="12259"/>
                </a:lnTo>
                <a:close/>
                <a:moveTo>
                  <a:pt x="222472" y="314207"/>
                </a:moveTo>
                <a:lnTo>
                  <a:pt x="219649" y="314363"/>
                </a:lnTo>
                <a:cubicBezTo>
                  <a:pt x="208469" y="315692"/>
                  <a:pt x="200049" y="325173"/>
                  <a:pt x="200049" y="336432"/>
                </a:cubicBezTo>
                <a:cubicBezTo>
                  <a:pt x="200049" y="347691"/>
                  <a:pt x="208469" y="357172"/>
                  <a:pt x="219649" y="358501"/>
                </a:cubicBezTo>
                <a:lnTo>
                  <a:pt x="222250" y="358657"/>
                </a:lnTo>
                <a:lnTo>
                  <a:pt x="225072" y="358501"/>
                </a:lnTo>
                <a:cubicBezTo>
                  <a:pt x="236253" y="357172"/>
                  <a:pt x="244672" y="347691"/>
                  <a:pt x="244672" y="336432"/>
                </a:cubicBezTo>
                <a:cubicBezTo>
                  <a:pt x="244672" y="325173"/>
                  <a:pt x="236253" y="315692"/>
                  <a:pt x="225072" y="314363"/>
                </a:cubicBezTo>
                <a:lnTo>
                  <a:pt x="222472" y="314207"/>
                </a:lnTo>
                <a:close/>
                <a:moveTo>
                  <a:pt x="222250" y="136407"/>
                </a:moveTo>
                <a:cubicBezTo>
                  <a:pt x="210982" y="136409"/>
                  <a:pt x="201499" y="144842"/>
                  <a:pt x="200180" y="156032"/>
                </a:cubicBezTo>
                <a:lnTo>
                  <a:pt x="200025" y="158632"/>
                </a:lnTo>
                <a:lnTo>
                  <a:pt x="200025" y="247532"/>
                </a:lnTo>
                <a:lnTo>
                  <a:pt x="200180" y="250132"/>
                </a:lnTo>
                <a:cubicBezTo>
                  <a:pt x="201510" y="261313"/>
                  <a:pt x="210991" y="269732"/>
                  <a:pt x="222250" y="269732"/>
                </a:cubicBezTo>
                <a:cubicBezTo>
                  <a:pt x="233509" y="269732"/>
                  <a:pt x="242989" y="261313"/>
                  <a:pt x="244319" y="250132"/>
                </a:cubicBezTo>
                <a:lnTo>
                  <a:pt x="244475" y="247532"/>
                </a:lnTo>
                <a:lnTo>
                  <a:pt x="244475" y="158632"/>
                </a:lnTo>
                <a:lnTo>
                  <a:pt x="244319" y="156032"/>
                </a:lnTo>
                <a:cubicBezTo>
                  <a:pt x="243001" y="144842"/>
                  <a:pt x="233517" y="136409"/>
                  <a:pt x="222250" y="136407"/>
                </a:cubicBez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9"/>
          <p:cNvSpPr txBox="1"/>
          <p:nvPr/>
        </p:nvSpPr>
        <p:spPr>
          <a:xfrm>
            <a:off x="703488" y="1657075"/>
            <a:ext cx="1993500" cy="615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 sz="2000">
                <a:solidFill>
                  <a:srgbClr val="16181C"/>
                </a:solidFill>
                <a:latin typeface="Impact"/>
                <a:ea typeface="Impact"/>
                <a:cs typeface="Impact"/>
                <a:sym typeface="Impact"/>
              </a:rPr>
              <a:t>NO SIGNATURES</a:t>
            </a:r>
            <a:endParaRPr b="0" sz="2000">
              <a:solidFill>
                <a:srgbClr val="16181C"/>
              </a:solidFill>
              <a:latin typeface="Impact"/>
              <a:ea typeface="Impact"/>
              <a:cs typeface="Impact"/>
              <a:sym typeface="Impact"/>
            </a:endParaRPr>
          </a:p>
        </p:txBody>
      </p:sp>
      <p:sp>
        <p:nvSpPr>
          <p:cNvPr id="116" name="Google Shape;116;p9"/>
          <p:cNvSpPr/>
          <p:nvPr/>
        </p:nvSpPr>
        <p:spPr>
          <a:xfrm>
            <a:off x="704850" y="2238375"/>
            <a:ext cx="43403139" cy="0"/>
          </a:xfrm>
          <a:custGeom>
            <a:rect b="b" l="l" r="r" t="t"/>
            <a:pathLst>
              <a:path extrusionOk="0" h="9525" w="2628900">
                <a:moveTo>
                  <a:pt x="0" y="0"/>
                </a:moveTo>
                <a:lnTo>
                  <a:pt x="2628900" y="0"/>
                </a:lnTo>
              </a:path>
            </a:pathLst>
          </a:custGeom>
          <a:solidFill>
            <a:srgbClr val="000000">
              <a:alpha val="0"/>
            </a:srgbClr>
          </a:solidFill>
          <a:ln cap="flat" cmpd="sng" w="14300">
            <a:solidFill>
              <a:srgbClr val="16181C"/>
            </a:solidFill>
            <a:prstDash val="solid"/>
            <a:round/>
            <a:headEnd len="sm" w="sm" type="none"/>
            <a:tailEnd len="sm" w="sm" type="none"/>
          </a:ln>
        </p:spPr>
      </p:sp>
      <p:grpSp>
        <p:nvGrpSpPr>
          <p:cNvPr id="117" name="Google Shape;117;p9"/>
          <p:cNvGrpSpPr/>
          <p:nvPr/>
        </p:nvGrpSpPr>
        <p:grpSpPr>
          <a:xfrm>
            <a:off x="704850" y="2457450"/>
            <a:ext cx="7987050" cy="3429150"/>
            <a:chOff x="0" y="0"/>
            <a:chExt cx="7987050" cy="3429150"/>
          </a:xfrm>
        </p:grpSpPr>
        <p:sp>
          <p:nvSpPr>
            <p:cNvPr id="118" name="Google Shape;118;p9"/>
            <p:cNvSpPr/>
            <p:nvPr/>
          </p:nvSpPr>
          <p:spPr>
            <a:xfrm>
              <a:off x="0" y="0"/>
              <a:ext cx="20001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9"/>
            <p:cNvSpPr txBox="1"/>
            <p:nvPr/>
          </p:nvSpPr>
          <p:spPr>
            <a:xfrm>
              <a:off x="704850" y="2381250"/>
              <a:ext cx="72822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F4247"/>
                  </a:solidFill>
                  <a:latin typeface="Georgia"/>
                  <a:ea typeface="Georgia"/>
                  <a:cs typeface="Georgia"/>
                  <a:sym typeface="Georgia"/>
                </a:rPr>
                <a:t>The model learns only what "normal" traffic looks like — it flags deviation, not a match.</a:t>
              </a:r>
              <a:endParaRPr b="0" sz="1300">
                <a:solidFill>
                  <a:srgbClr val="3F4247"/>
                </a:solidFill>
                <a:latin typeface="Georgia"/>
                <a:ea typeface="Georgia"/>
                <a:cs typeface="Georgia"/>
                <a:sym typeface="Georgia"/>
              </a:endParaRPr>
            </a:p>
          </p:txBody>
        </p:sp>
      </p:grpSp>
      <p:grpSp>
        <p:nvGrpSpPr>
          <p:cNvPr id="120" name="Google Shape;120;p9"/>
          <p:cNvGrpSpPr/>
          <p:nvPr/>
        </p:nvGrpSpPr>
        <p:grpSpPr>
          <a:xfrm>
            <a:off x="704850" y="4048125"/>
            <a:ext cx="171450" cy="190437"/>
            <a:chOff x="0" y="0"/>
            <a:chExt cx="228600" cy="253916"/>
          </a:xfrm>
        </p:grpSpPr>
        <p:sp>
          <p:nvSpPr>
            <p:cNvPr id="121" name="Google Shape;121;p9"/>
            <p:cNvSpPr/>
            <p:nvPr/>
          </p:nvSpPr>
          <p:spPr>
            <a:xfrm>
              <a:off x="0" y="174300"/>
              <a:ext cx="228599" cy="79616"/>
            </a:xfrm>
            <a:custGeom>
              <a:rect b="b" l="l" r="r" t="t"/>
              <a:pathLst>
                <a:path extrusionOk="0" h="79616" w="228599">
                  <a:moveTo>
                    <a:pt x="0" y="0"/>
                  </a:moveTo>
                  <a:cubicBezTo>
                    <a:pt x="24994" y="19139"/>
                    <a:pt x="66472" y="28816"/>
                    <a:pt x="114300" y="28816"/>
                  </a:cubicBezTo>
                  <a:cubicBezTo>
                    <a:pt x="162052" y="28816"/>
                    <a:pt x="203517" y="19164"/>
                    <a:pt x="228599" y="216"/>
                  </a:cubicBezTo>
                  <a:lnTo>
                    <a:pt x="228599" y="28816"/>
                  </a:lnTo>
                  <a:cubicBezTo>
                    <a:pt x="228599" y="59614"/>
                    <a:pt x="179133" y="78803"/>
                    <a:pt x="118199" y="79591"/>
                  </a:cubicBezTo>
                  <a:lnTo>
                    <a:pt x="114300" y="79616"/>
                  </a:lnTo>
                  <a:cubicBezTo>
                    <a:pt x="51587" y="79616"/>
                    <a:pt x="0" y="60274"/>
                    <a:pt x="0" y="28816"/>
                  </a:cubicBez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9"/>
            <p:cNvSpPr/>
            <p:nvPr/>
          </p:nvSpPr>
          <p:spPr>
            <a:xfrm>
              <a:off x="0" y="98100"/>
              <a:ext cx="228599" cy="79616"/>
            </a:xfrm>
            <a:custGeom>
              <a:rect b="b" l="l" r="r" t="t"/>
              <a:pathLst>
                <a:path extrusionOk="0" h="79616" w="228599">
                  <a:moveTo>
                    <a:pt x="0" y="0"/>
                  </a:moveTo>
                  <a:cubicBezTo>
                    <a:pt x="24994" y="19139"/>
                    <a:pt x="66472" y="28816"/>
                    <a:pt x="114300" y="28816"/>
                  </a:cubicBezTo>
                  <a:cubicBezTo>
                    <a:pt x="162052" y="28816"/>
                    <a:pt x="203517" y="19164"/>
                    <a:pt x="228599" y="216"/>
                  </a:cubicBezTo>
                  <a:lnTo>
                    <a:pt x="228599" y="28816"/>
                  </a:lnTo>
                  <a:cubicBezTo>
                    <a:pt x="228599" y="60274"/>
                    <a:pt x="177012" y="79616"/>
                    <a:pt x="114300" y="79616"/>
                  </a:cubicBezTo>
                  <a:cubicBezTo>
                    <a:pt x="53365" y="79616"/>
                    <a:pt x="2921" y="61354"/>
                    <a:pt x="267" y="31420"/>
                  </a:cubicBezTo>
                  <a:lnTo>
                    <a:pt x="63" y="30137"/>
                  </a:lnTo>
                  <a:lnTo>
                    <a:pt x="0" y="28816"/>
                  </a:ln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9"/>
            <p:cNvSpPr/>
            <p:nvPr/>
          </p:nvSpPr>
          <p:spPr>
            <a:xfrm>
              <a:off x="0" y="0"/>
              <a:ext cx="228600" cy="101600"/>
            </a:xfrm>
            <a:custGeom>
              <a:rect b="b" l="l" r="r" t="t"/>
              <a:pathLst>
                <a:path extrusionOk="0" h="101600" w="228600">
                  <a:moveTo>
                    <a:pt x="114301" y="0"/>
                  </a:moveTo>
                  <a:cubicBezTo>
                    <a:pt x="127521" y="0"/>
                    <a:pt x="140259" y="864"/>
                    <a:pt x="152109" y="2515"/>
                  </a:cubicBezTo>
                  <a:lnTo>
                    <a:pt x="158065" y="3416"/>
                  </a:lnTo>
                  <a:cubicBezTo>
                    <a:pt x="165177" y="4602"/>
                    <a:pt x="171891" y="6075"/>
                    <a:pt x="178207" y="7836"/>
                  </a:cubicBezTo>
                  <a:lnTo>
                    <a:pt x="183795" y="9500"/>
                  </a:lnTo>
                  <a:lnTo>
                    <a:pt x="184747" y="9804"/>
                  </a:lnTo>
                  <a:cubicBezTo>
                    <a:pt x="188204" y="10941"/>
                    <a:pt x="191614" y="12212"/>
                    <a:pt x="194971" y="13614"/>
                  </a:cubicBezTo>
                  <a:lnTo>
                    <a:pt x="197498" y="14707"/>
                  </a:lnTo>
                  <a:cubicBezTo>
                    <a:pt x="202028" y="16755"/>
                    <a:pt x="206121" y="18999"/>
                    <a:pt x="209779" y="21438"/>
                  </a:cubicBezTo>
                  <a:cubicBezTo>
                    <a:pt x="211176" y="22369"/>
                    <a:pt x="212501" y="23321"/>
                    <a:pt x="213754" y="24295"/>
                  </a:cubicBezTo>
                  <a:cubicBezTo>
                    <a:pt x="216928" y="26758"/>
                    <a:pt x="219783" y="29608"/>
                    <a:pt x="222250" y="32779"/>
                  </a:cubicBezTo>
                  <a:lnTo>
                    <a:pt x="223406" y="34404"/>
                  </a:lnTo>
                  <a:cubicBezTo>
                    <a:pt x="223999" y="35293"/>
                    <a:pt x="224545" y="36186"/>
                    <a:pt x="225044" y="37084"/>
                  </a:cubicBezTo>
                  <a:lnTo>
                    <a:pt x="225933" y="38849"/>
                  </a:lnTo>
                  <a:cubicBezTo>
                    <a:pt x="227313" y="41813"/>
                    <a:pt x="228160" y="44903"/>
                    <a:pt x="228473" y="48120"/>
                  </a:cubicBezTo>
                  <a:lnTo>
                    <a:pt x="228600" y="50800"/>
                  </a:lnTo>
                  <a:cubicBezTo>
                    <a:pt x="228600" y="82258"/>
                    <a:pt x="177013" y="101600"/>
                    <a:pt x="114301" y="101600"/>
                  </a:cubicBezTo>
                  <a:cubicBezTo>
                    <a:pt x="53366" y="101600"/>
                    <a:pt x="2922" y="83337"/>
                    <a:pt x="268" y="53403"/>
                  </a:cubicBezTo>
                  <a:cubicBezTo>
                    <a:pt x="89" y="52547"/>
                    <a:pt x="0" y="51675"/>
                    <a:pt x="1" y="50800"/>
                  </a:cubicBezTo>
                  <a:lnTo>
                    <a:pt x="64" y="49479"/>
                  </a:lnTo>
                  <a:lnTo>
                    <a:pt x="268" y="48209"/>
                  </a:lnTo>
                  <a:cubicBezTo>
                    <a:pt x="2871" y="18923"/>
                    <a:pt x="51195" y="800"/>
                    <a:pt x="110338" y="25"/>
                  </a:cubicBezTo>
                  <a:close/>
                </a:path>
              </a:pathLst>
            </a:cu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4" name="Google Shape;124;p9"/>
          <p:cNvSpPr txBox="1"/>
          <p:nvPr/>
        </p:nvSpPr>
        <p:spPr>
          <a:xfrm>
            <a:off x="933450" y="4029075"/>
            <a:ext cx="952500" cy="153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UNSW-NB15</a:t>
            </a:r>
            <a:endParaRPr b="1" sz="1000">
              <a:solidFill>
                <a:srgbClr val="6B6E73"/>
              </a:solidFill>
              <a:latin typeface="Consolas"/>
              <a:ea typeface="Consolas"/>
              <a:cs typeface="Consolas"/>
              <a:sym typeface="Consolas"/>
            </a:endParaRPr>
          </a:p>
        </p:txBody>
      </p:sp>
      <p:grpSp>
        <p:nvGrpSpPr>
          <p:cNvPr id="125" name="Google Shape;125;p9"/>
          <p:cNvGrpSpPr/>
          <p:nvPr/>
        </p:nvGrpSpPr>
        <p:grpSpPr>
          <a:xfrm>
            <a:off x="3333750" y="1355763"/>
            <a:ext cx="5334075" cy="2930638"/>
            <a:chOff x="0" y="212763"/>
            <a:chExt cx="5334075" cy="2930638"/>
          </a:xfrm>
        </p:grpSpPr>
        <p:sp>
          <p:nvSpPr>
            <p:cNvPr id="126" name="Google Shape;126;p9"/>
            <p:cNvSpPr txBox="1"/>
            <p:nvPr/>
          </p:nvSpPr>
          <p:spPr>
            <a:xfrm>
              <a:off x="0" y="212763"/>
              <a:ext cx="53340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665">
                  <a:solidFill>
                    <a:srgbClr val="16181C"/>
                  </a:solidFill>
                  <a:latin typeface="Georgia"/>
                  <a:ea typeface="Georgia"/>
                  <a:cs typeface="Georgia"/>
                  <a:sym typeface="Georgia"/>
                </a:rPr>
                <a:t>An unsupervised Isolation Forest, fit only on normal UNSW-NB15 traffic, scores live flows and reports human-readable feature deviations.</a:t>
              </a:r>
              <a:endParaRPr b="1" sz="1665">
                <a:solidFill>
                  <a:srgbClr val="16181C"/>
                </a:solidFill>
                <a:latin typeface="Georgia"/>
                <a:ea typeface="Georgia"/>
                <a:cs typeface="Georgia"/>
                <a:sym typeface="Georgia"/>
              </a:endParaRPr>
            </a:p>
          </p:txBody>
        </p:sp>
        <p:pic>
          <p:nvPicPr>
            <p:cNvPr id="127" name="Google Shape;127;p9"/>
            <p:cNvPicPr preferRelativeResize="0"/>
            <p:nvPr/>
          </p:nvPicPr>
          <p:blipFill rotWithShape="1">
            <a:blip r:embed="rId3">
              <a:alphaModFix/>
            </a:blip>
            <a:srcRect b="0" l="0" r="0" t="0"/>
            <a:stretch/>
          </p:blipFill>
          <p:spPr>
            <a:xfrm>
              <a:off x="0" y="904875"/>
              <a:ext cx="5334000" cy="9600"/>
            </a:xfrm>
            <a:prstGeom prst="rect">
              <a:avLst/>
            </a:prstGeom>
            <a:noFill/>
            <a:ln>
              <a:noFill/>
            </a:ln>
          </p:spPr>
        </p:pic>
        <p:grpSp>
          <p:nvGrpSpPr>
            <p:cNvPr id="128" name="Google Shape;128;p9"/>
            <p:cNvGrpSpPr/>
            <p:nvPr/>
          </p:nvGrpSpPr>
          <p:grpSpPr>
            <a:xfrm>
              <a:off x="0" y="1143000"/>
              <a:ext cx="5334075" cy="476400"/>
              <a:chOff x="0" y="0"/>
              <a:chExt cx="5334075" cy="476400"/>
            </a:xfrm>
          </p:grpSpPr>
          <p:sp>
            <p:nvSpPr>
              <p:cNvPr id="129" name="Google Shape;129;p9"/>
              <p:cNvSpPr txBox="1"/>
              <p:nvPr/>
            </p:nvSpPr>
            <p:spPr>
              <a:xfrm>
                <a:off x="0" y="0"/>
                <a:ext cx="333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B3261E"/>
                    </a:solidFill>
                    <a:latin typeface="Consolas"/>
                    <a:ea typeface="Consolas"/>
                    <a:cs typeface="Consolas"/>
                    <a:sym typeface="Consolas"/>
                  </a:rPr>
                  <a:t>01</a:t>
                </a:r>
                <a:endParaRPr b="1" sz="1600">
                  <a:solidFill>
                    <a:srgbClr val="B3261E"/>
                  </a:solidFill>
                  <a:latin typeface="Consolas"/>
                  <a:ea typeface="Consolas"/>
                  <a:cs typeface="Consolas"/>
                  <a:sym typeface="Consolas"/>
                </a:endParaRPr>
              </a:p>
            </p:txBody>
          </p:sp>
          <p:sp>
            <p:nvSpPr>
              <p:cNvPr id="130" name="Google Shape;130;p9"/>
              <p:cNvSpPr txBox="1"/>
              <p:nvPr/>
            </p:nvSpPr>
            <p:spPr>
              <a:xfrm>
                <a:off x="333375" y="0"/>
                <a:ext cx="50007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6181C"/>
                    </a:solidFill>
                    <a:latin typeface="Georgia"/>
                    <a:ea typeface="Georgia"/>
                    <a:cs typeface="Georgia"/>
                    <a:sym typeface="Georgia"/>
                  </a:rPr>
                  <a:t>Normal-only training split; labels used for evaluation only, never fed to the model.</a:t>
                </a:r>
                <a:endParaRPr b="0" sz="1300">
                  <a:solidFill>
                    <a:srgbClr val="16181C"/>
                  </a:solidFill>
                  <a:latin typeface="Georgia"/>
                  <a:ea typeface="Georgia"/>
                  <a:cs typeface="Georgia"/>
                  <a:sym typeface="Georgia"/>
                </a:endParaRPr>
              </a:p>
            </p:txBody>
          </p:sp>
        </p:grpSp>
        <p:grpSp>
          <p:nvGrpSpPr>
            <p:cNvPr id="131" name="Google Shape;131;p9"/>
            <p:cNvGrpSpPr/>
            <p:nvPr/>
          </p:nvGrpSpPr>
          <p:grpSpPr>
            <a:xfrm>
              <a:off x="0" y="1905000"/>
              <a:ext cx="5334075" cy="476400"/>
              <a:chOff x="0" y="0"/>
              <a:chExt cx="5334075" cy="476400"/>
            </a:xfrm>
          </p:grpSpPr>
          <p:sp>
            <p:nvSpPr>
              <p:cNvPr id="132" name="Google Shape;132;p9"/>
              <p:cNvSpPr txBox="1"/>
              <p:nvPr/>
            </p:nvSpPr>
            <p:spPr>
              <a:xfrm>
                <a:off x="0" y="0"/>
                <a:ext cx="333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B3261E"/>
                    </a:solidFill>
                    <a:latin typeface="Consolas"/>
                    <a:ea typeface="Consolas"/>
                    <a:cs typeface="Consolas"/>
                    <a:sym typeface="Consolas"/>
                  </a:rPr>
                  <a:t>02</a:t>
                </a:r>
                <a:endParaRPr b="1" sz="1600">
                  <a:solidFill>
                    <a:srgbClr val="B3261E"/>
                  </a:solidFill>
                  <a:latin typeface="Consolas"/>
                  <a:ea typeface="Consolas"/>
                  <a:cs typeface="Consolas"/>
                  <a:sym typeface="Consolas"/>
                </a:endParaRPr>
              </a:p>
            </p:txBody>
          </p:sp>
          <p:sp>
            <p:nvSpPr>
              <p:cNvPr id="133" name="Google Shape;133;p9"/>
              <p:cNvSpPr txBox="1"/>
              <p:nvPr/>
            </p:nvSpPr>
            <p:spPr>
              <a:xfrm>
                <a:off x="333375" y="0"/>
                <a:ext cx="50007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6181C"/>
                    </a:solidFill>
                    <a:latin typeface="Georgia"/>
                    <a:ea typeface="Georgia"/>
                    <a:cs typeface="Georgia"/>
                    <a:sym typeface="Georgia"/>
                  </a:rPr>
                  <a:t>Scores live flows; reports deviations in human-readable features, not a raw anomaly score alone.</a:t>
                </a:r>
                <a:endParaRPr b="0" sz="1300">
                  <a:solidFill>
                    <a:srgbClr val="16181C"/>
                  </a:solidFill>
                  <a:latin typeface="Georgia"/>
                  <a:ea typeface="Georgia"/>
                  <a:cs typeface="Georgia"/>
                  <a:sym typeface="Georgia"/>
                </a:endParaRPr>
              </a:p>
            </p:txBody>
          </p:sp>
        </p:grpSp>
        <p:grpSp>
          <p:nvGrpSpPr>
            <p:cNvPr id="134" name="Google Shape;134;p9"/>
            <p:cNvGrpSpPr/>
            <p:nvPr/>
          </p:nvGrpSpPr>
          <p:grpSpPr>
            <a:xfrm>
              <a:off x="0" y="2667000"/>
              <a:ext cx="5334075" cy="476400"/>
              <a:chOff x="0" y="0"/>
              <a:chExt cx="5334075" cy="476400"/>
            </a:xfrm>
          </p:grpSpPr>
          <p:sp>
            <p:nvSpPr>
              <p:cNvPr id="135" name="Google Shape;135;p9"/>
              <p:cNvSpPr txBox="1"/>
              <p:nvPr/>
            </p:nvSpPr>
            <p:spPr>
              <a:xfrm>
                <a:off x="0" y="0"/>
                <a:ext cx="3333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B3261E"/>
                    </a:solidFill>
                    <a:latin typeface="Consolas"/>
                    <a:ea typeface="Consolas"/>
                    <a:cs typeface="Consolas"/>
                    <a:sym typeface="Consolas"/>
                  </a:rPr>
                  <a:t>03</a:t>
                </a:r>
                <a:endParaRPr b="1" sz="1600">
                  <a:solidFill>
                    <a:srgbClr val="B3261E"/>
                  </a:solidFill>
                  <a:latin typeface="Consolas"/>
                  <a:ea typeface="Consolas"/>
                  <a:cs typeface="Consolas"/>
                  <a:sym typeface="Consolas"/>
                </a:endParaRPr>
              </a:p>
            </p:txBody>
          </p:sp>
          <p:sp>
            <p:nvSpPr>
              <p:cNvPr id="136" name="Google Shape;136;p9"/>
              <p:cNvSpPr txBox="1"/>
              <p:nvPr/>
            </p:nvSpPr>
            <p:spPr>
              <a:xfrm>
                <a:off x="333375" y="0"/>
                <a:ext cx="50007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6181C"/>
                    </a:solidFill>
                    <a:latin typeface="Georgia"/>
                    <a:ea typeface="Georgia"/>
                    <a:cs typeface="Georgia"/>
                    <a:sym typeface="Georgia"/>
                  </a:rPr>
                  <a:t>Lives in engine/ — trained, saved (scaler + model), and replay-tested against live traffic.</a:t>
                </a:r>
                <a:endParaRPr b="0" sz="1300">
                  <a:solidFill>
                    <a:srgbClr val="16181C"/>
                  </a:solidFill>
                  <a:latin typeface="Georgia"/>
                  <a:ea typeface="Georgia"/>
                  <a:cs typeface="Georgia"/>
                  <a:sym typeface="Georgia"/>
                </a:endParaRPr>
              </a:p>
            </p:txBody>
          </p:sp>
        </p:grpSp>
      </p:grpSp>
      <p:sp>
        <p:nvSpPr>
          <p:cNvPr id="137" name="Google Shape;137;p9"/>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138" name="Google Shape;138;p9"/>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144" name="Google Shape;144;p10"/>
          <p:cNvSpPr txBox="1"/>
          <p:nvPr/>
        </p:nvSpPr>
        <p:spPr>
          <a:xfrm>
            <a:off x="442913" y="88582"/>
            <a:ext cx="59307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Retrieve first. Cite always.</a:t>
            </a:r>
            <a:endParaRPr sz="1100"/>
          </a:p>
        </p:txBody>
      </p:sp>
      <p:sp>
        <p:nvSpPr>
          <p:cNvPr id="145" name="Google Shape;145;p10"/>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06</a:t>
            </a:r>
            <a:endParaRPr sz="1100"/>
          </a:p>
        </p:txBody>
      </p:sp>
      <p:sp>
        <p:nvSpPr>
          <p:cNvPr id="146" name="Google Shape;146;p10"/>
          <p:cNvSpPr txBox="1"/>
          <p:nvPr/>
        </p:nvSpPr>
        <p:spPr>
          <a:xfrm>
            <a:off x="457200" y="685800"/>
            <a:ext cx="8229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500">
                <a:solidFill>
                  <a:srgbClr val="16181C"/>
                </a:solidFill>
                <a:latin typeface="Georgia"/>
                <a:ea typeface="Georgia"/>
                <a:cs typeface="Georgia"/>
                <a:sym typeface="Georgia"/>
              </a:rPr>
              <a:t>A tool-calling agent maps each anomaly to a cited MITRE ATT&amp;CK technique and CVE/CERT-In references — </a:t>
            </a:r>
            <a:r>
              <a:rPr b="1" lang="en" sz="1500">
                <a:solidFill>
                  <a:srgbClr val="B3261E"/>
                </a:solidFill>
                <a:latin typeface="Georgia"/>
                <a:ea typeface="Georgia"/>
                <a:cs typeface="Georgia"/>
                <a:sym typeface="Georgia"/>
              </a:rPr>
              <a:t>it never invents a technique ID.</a:t>
            </a:r>
            <a:endParaRPr sz="1500">
              <a:solidFill>
                <a:srgbClr val="16181C"/>
              </a:solidFill>
              <a:latin typeface="Georgia"/>
              <a:ea typeface="Georgia"/>
              <a:cs typeface="Georgia"/>
              <a:sym typeface="Georgia"/>
            </a:endParaRPr>
          </a:p>
        </p:txBody>
      </p:sp>
      <p:grpSp>
        <p:nvGrpSpPr>
          <p:cNvPr id="147" name="Google Shape;147;p10"/>
          <p:cNvGrpSpPr/>
          <p:nvPr/>
        </p:nvGrpSpPr>
        <p:grpSpPr>
          <a:xfrm>
            <a:off x="457200" y="1333500"/>
            <a:ext cx="3810000" cy="2857650"/>
            <a:chOff x="0" y="0"/>
            <a:chExt cx="3810000" cy="2857650"/>
          </a:xfrm>
        </p:grpSpPr>
        <p:sp>
          <p:nvSpPr>
            <p:cNvPr id="148" name="Google Shape;148;p10"/>
            <p:cNvSpPr/>
            <p:nvPr/>
          </p:nvSpPr>
          <p:spPr>
            <a:xfrm>
              <a:off x="0" y="0"/>
              <a:ext cx="3810000" cy="24765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9" name="Google Shape;149;p10"/>
            <p:cNvPicPr preferRelativeResize="0"/>
            <p:nvPr/>
          </p:nvPicPr>
          <p:blipFill rotWithShape="1">
            <a:blip r:embed="rId3">
              <a:alphaModFix/>
            </a:blip>
            <a:srcRect b="-780" l="13028" r="12016" t="780"/>
            <a:stretch/>
          </p:blipFill>
          <p:spPr>
            <a:xfrm>
              <a:off x="38100" y="38100"/>
              <a:ext cx="3771900" cy="2438400"/>
            </a:xfrm>
            <a:prstGeom prst="rect">
              <a:avLst/>
            </a:prstGeom>
            <a:noFill/>
            <a:ln>
              <a:noFill/>
            </a:ln>
          </p:spPr>
        </p:pic>
        <p:sp>
          <p:nvSpPr>
            <p:cNvPr id="150" name="Google Shape;150;p10"/>
            <p:cNvSpPr/>
            <p:nvPr/>
          </p:nvSpPr>
          <p:spPr>
            <a:xfrm>
              <a:off x="0" y="257175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0"/>
            <p:cNvSpPr txBox="1"/>
            <p:nvPr/>
          </p:nvSpPr>
          <p:spPr>
            <a:xfrm>
              <a:off x="0" y="257175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MITRE-MAPPED AUDIT TRAIL — LIVE</a:t>
              </a:r>
              <a:endParaRPr b="1" sz="1000">
                <a:solidFill>
                  <a:srgbClr val="6B6E73"/>
                </a:solidFill>
                <a:latin typeface="Consolas"/>
                <a:ea typeface="Consolas"/>
                <a:cs typeface="Consolas"/>
                <a:sym typeface="Consolas"/>
              </a:endParaRPr>
            </a:p>
          </p:txBody>
        </p:sp>
      </p:grpSp>
      <p:grpSp>
        <p:nvGrpSpPr>
          <p:cNvPr id="152" name="Google Shape;152;p10"/>
          <p:cNvGrpSpPr/>
          <p:nvPr/>
        </p:nvGrpSpPr>
        <p:grpSpPr>
          <a:xfrm>
            <a:off x="4648200" y="1333500"/>
            <a:ext cx="3581400" cy="2905200"/>
            <a:chOff x="0" y="0"/>
            <a:chExt cx="3581400" cy="2905200"/>
          </a:xfrm>
        </p:grpSpPr>
        <p:grpSp>
          <p:nvGrpSpPr>
            <p:cNvPr id="153" name="Google Shape;153;p10"/>
            <p:cNvGrpSpPr/>
            <p:nvPr/>
          </p:nvGrpSpPr>
          <p:grpSpPr>
            <a:xfrm>
              <a:off x="0" y="0"/>
              <a:ext cx="3581400" cy="619200"/>
              <a:chOff x="0" y="0"/>
              <a:chExt cx="3581400" cy="619200"/>
            </a:xfrm>
          </p:grpSpPr>
          <p:sp>
            <p:nvSpPr>
              <p:cNvPr id="154" name="Google Shape;154;p10"/>
              <p:cNvSpPr txBox="1"/>
              <p:nvPr/>
            </p:nvSpPr>
            <p:spPr>
              <a:xfrm>
                <a:off x="0" y="0"/>
                <a:ext cx="285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B3261E"/>
                    </a:solidFill>
                    <a:latin typeface="Consolas"/>
                    <a:ea typeface="Consolas"/>
                    <a:cs typeface="Consolas"/>
                    <a:sym typeface="Consolas"/>
                  </a:rPr>
                  <a:t>01</a:t>
                </a:r>
                <a:endParaRPr b="1" sz="1400">
                  <a:solidFill>
                    <a:srgbClr val="B3261E"/>
                  </a:solidFill>
                  <a:latin typeface="Consolas"/>
                  <a:ea typeface="Consolas"/>
                  <a:cs typeface="Consolas"/>
                  <a:sym typeface="Consolas"/>
                </a:endParaRPr>
              </a:p>
            </p:txBody>
          </p:sp>
          <p:sp>
            <p:nvSpPr>
              <p:cNvPr id="155" name="Google Shape;155;p10"/>
              <p:cNvSpPr txBox="1"/>
              <p:nvPr/>
            </p:nvSpPr>
            <p:spPr>
              <a:xfrm>
                <a:off x="381000" y="0"/>
                <a:ext cx="32004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16181C"/>
                    </a:solidFill>
                    <a:latin typeface="Georgia"/>
                    <a:ea typeface="Georgia"/>
                    <a:cs typeface="Georgia"/>
                    <a:sym typeface="Georgia"/>
                  </a:rPr>
                  <a:t>Retrieval-grounded</a:t>
                </a:r>
                <a:endParaRPr b="1" sz="1250">
                  <a:solidFill>
                    <a:srgbClr val="16181C"/>
                  </a:solidFill>
                  <a:latin typeface="Georgia"/>
                  <a:ea typeface="Georgia"/>
                  <a:cs typeface="Georgia"/>
                  <a:sym typeface="Georgia"/>
                </a:endParaRPr>
              </a:p>
              <a:p>
                <a:pPr indent="0" lvl="0" marL="0" rtl="0" algn="l">
                  <a:spcBef>
                    <a:spcPts val="150"/>
                  </a:spcBef>
                  <a:spcAft>
                    <a:spcPts val="0"/>
                  </a:spcAft>
                  <a:buNone/>
                </a:pPr>
                <a:r>
                  <a:rPr lang="en" sz="1150">
                    <a:solidFill>
                      <a:srgbClr val="555555"/>
                    </a:solidFill>
                    <a:latin typeface="Georgia"/>
                    <a:ea typeface="Georgia"/>
                    <a:cs typeface="Georgia"/>
                    <a:sym typeface="Georgia"/>
                  </a:rPr>
                  <a:t>Over a Chroma index of MITRE ATT&amp;CK STIX + NVD CVE + CERT-In advisories.</a:t>
                </a:r>
                <a:endParaRPr sz="1150">
                  <a:solidFill>
                    <a:srgbClr val="555555"/>
                  </a:solidFill>
                  <a:latin typeface="Georgia"/>
                  <a:ea typeface="Georgia"/>
                  <a:cs typeface="Georgia"/>
                  <a:sym typeface="Georgia"/>
                </a:endParaRPr>
              </a:p>
            </p:txBody>
          </p:sp>
        </p:grpSp>
        <p:grpSp>
          <p:nvGrpSpPr>
            <p:cNvPr id="156" name="Google Shape;156;p10"/>
            <p:cNvGrpSpPr/>
            <p:nvPr/>
          </p:nvGrpSpPr>
          <p:grpSpPr>
            <a:xfrm>
              <a:off x="0" y="762000"/>
              <a:ext cx="3581400" cy="619200"/>
              <a:chOff x="0" y="0"/>
              <a:chExt cx="3581400" cy="619200"/>
            </a:xfrm>
          </p:grpSpPr>
          <p:sp>
            <p:nvSpPr>
              <p:cNvPr id="157" name="Google Shape;157;p10"/>
              <p:cNvSpPr txBox="1"/>
              <p:nvPr/>
            </p:nvSpPr>
            <p:spPr>
              <a:xfrm>
                <a:off x="0" y="0"/>
                <a:ext cx="285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B3261E"/>
                    </a:solidFill>
                    <a:latin typeface="Consolas"/>
                    <a:ea typeface="Consolas"/>
                    <a:cs typeface="Consolas"/>
                    <a:sym typeface="Consolas"/>
                  </a:rPr>
                  <a:t>02</a:t>
                </a:r>
                <a:endParaRPr b="1" sz="1400">
                  <a:solidFill>
                    <a:srgbClr val="B3261E"/>
                  </a:solidFill>
                  <a:latin typeface="Consolas"/>
                  <a:ea typeface="Consolas"/>
                  <a:cs typeface="Consolas"/>
                  <a:sym typeface="Consolas"/>
                </a:endParaRPr>
              </a:p>
            </p:txBody>
          </p:sp>
          <p:sp>
            <p:nvSpPr>
              <p:cNvPr id="158" name="Google Shape;158;p10"/>
              <p:cNvSpPr txBox="1"/>
              <p:nvPr/>
            </p:nvSpPr>
            <p:spPr>
              <a:xfrm>
                <a:off x="381000" y="0"/>
                <a:ext cx="32004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16181C"/>
                    </a:solidFill>
                    <a:latin typeface="Georgia"/>
                    <a:ea typeface="Georgia"/>
                    <a:cs typeface="Georgia"/>
                    <a:sym typeface="Georgia"/>
                  </a:rPr>
                  <a:t>Calibration over Guessing</a:t>
                </a:r>
                <a:endParaRPr b="1" sz="1250">
                  <a:solidFill>
                    <a:srgbClr val="16181C"/>
                  </a:solidFill>
                  <a:latin typeface="Georgia"/>
                  <a:ea typeface="Georgia"/>
                  <a:cs typeface="Georgia"/>
                  <a:sym typeface="Georgia"/>
                </a:endParaRPr>
              </a:p>
              <a:p>
                <a:pPr indent="0" lvl="0" marL="0" rtl="0" algn="l">
                  <a:spcBef>
                    <a:spcPts val="150"/>
                  </a:spcBef>
                  <a:spcAft>
                    <a:spcPts val="0"/>
                  </a:spcAft>
                  <a:buNone/>
                </a:pPr>
                <a:r>
                  <a:rPr lang="en" sz="1150">
                    <a:solidFill>
                      <a:srgbClr val="555555"/>
                    </a:solidFill>
                    <a:latin typeface="Georgia"/>
                    <a:ea typeface="Georgia"/>
                    <a:cs typeface="Georgia"/>
                    <a:sym typeface="Georgia"/>
                  </a:rPr>
                  <a:t>Low retrieval → lower stated confidence, not a confident guess.</a:t>
                </a:r>
                <a:endParaRPr sz="1150">
                  <a:solidFill>
                    <a:srgbClr val="555555"/>
                  </a:solidFill>
                  <a:latin typeface="Georgia"/>
                  <a:ea typeface="Georgia"/>
                  <a:cs typeface="Georgia"/>
                  <a:sym typeface="Georgia"/>
                </a:endParaRPr>
              </a:p>
            </p:txBody>
          </p:sp>
        </p:grpSp>
        <p:grpSp>
          <p:nvGrpSpPr>
            <p:cNvPr id="159" name="Google Shape;159;p10"/>
            <p:cNvGrpSpPr/>
            <p:nvPr/>
          </p:nvGrpSpPr>
          <p:grpSpPr>
            <a:xfrm>
              <a:off x="0" y="1524000"/>
              <a:ext cx="3581400" cy="619200"/>
              <a:chOff x="0" y="0"/>
              <a:chExt cx="3581400" cy="619200"/>
            </a:xfrm>
          </p:grpSpPr>
          <p:sp>
            <p:nvSpPr>
              <p:cNvPr id="160" name="Google Shape;160;p10"/>
              <p:cNvSpPr txBox="1"/>
              <p:nvPr/>
            </p:nvSpPr>
            <p:spPr>
              <a:xfrm>
                <a:off x="0" y="0"/>
                <a:ext cx="285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B3261E"/>
                    </a:solidFill>
                    <a:latin typeface="Consolas"/>
                    <a:ea typeface="Consolas"/>
                    <a:cs typeface="Consolas"/>
                    <a:sym typeface="Consolas"/>
                  </a:rPr>
                  <a:t>03</a:t>
                </a:r>
                <a:endParaRPr b="1" sz="1400">
                  <a:solidFill>
                    <a:srgbClr val="B3261E"/>
                  </a:solidFill>
                  <a:latin typeface="Consolas"/>
                  <a:ea typeface="Consolas"/>
                  <a:cs typeface="Consolas"/>
                  <a:sym typeface="Consolas"/>
                </a:endParaRPr>
              </a:p>
            </p:txBody>
          </p:sp>
          <p:sp>
            <p:nvSpPr>
              <p:cNvPr id="161" name="Google Shape;161;p10"/>
              <p:cNvSpPr txBox="1"/>
              <p:nvPr/>
            </p:nvSpPr>
            <p:spPr>
              <a:xfrm>
                <a:off x="381000" y="0"/>
                <a:ext cx="32004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16181C"/>
                    </a:solidFill>
                    <a:latin typeface="Georgia"/>
                    <a:ea typeface="Georgia"/>
                    <a:cs typeface="Georgia"/>
                    <a:sym typeface="Georgia"/>
                  </a:rPr>
                  <a:t>Predictive Capability</a:t>
                </a:r>
                <a:endParaRPr b="1" sz="1250">
                  <a:solidFill>
                    <a:srgbClr val="16181C"/>
                  </a:solidFill>
                  <a:latin typeface="Georgia"/>
                  <a:ea typeface="Georgia"/>
                  <a:cs typeface="Georgia"/>
                  <a:sym typeface="Georgia"/>
                </a:endParaRPr>
              </a:p>
              <a:p>
                <a:pPr indent="0" lvl="0" marL="0" rtl="0" algn="l">
                  <a:spcBef>
                    <a:spcPts val="150"/>
                  </a:spcBef>
                  <a:spcAft>
                    <a:spcPts val="0"/>
                  </a:spcAft>
                  <a:buNone/>
                </a:pPr>
                <a:r>
                  <a:rPr lang="en" sz="1150">
                    <a:solidFill>
                      <a:srgbClr val="555555"/>
                    </a:solidFill>
                    <a:latin typeface="Georgia"/>
                    <a:ea typeface="Georgia"/>
                    <a:cs typeface="Georgia"/>
                    <a:sym typeface="Georgia"/>
                  </a:rPr>
                  <a:t>Predicts the likely next attack stage alongside the current technique.</a:t>
                </a:r>
                <a:endParaRPr sz="1150">
                  <a:solidFill>
                    <a:srgbClr val="555555"/>
                  </a:solidFill>
                  <a:latin typeface="Georgia"/>
                  <a:ea typeface="Georgia"/>
                  <a:cs typeface="Georgia"/>
                  <a:sym typeface="Georgia"/>
                </a:endParaRPr>
              </a:p>
            </p:txBody>
          </p:sp>
        </p:grpSp>
        <p:grpSp>
          <p:nvGrpSpPr>
            <p:cNvPr id="162" name="Google Shape;162;p10"/>
            <p:cNvGrpSpPr/>
            <p:nvPr/>
          </p:nvGrpSpPr>
          <p:grpSpPr>
            <a:xfrm>
              <a:off x="0" y="2286000"/>
              <a:ext cx="3581400" cy="619200"/>
              <a:chOff x="0" y="0"/>
              <a:chExt cx="3581400" cy="619200"/>
            </a:xfrm>
          </p:grpSpPr>
          <p:sp>
            <p:nvSpPr>
              <p:cNvPr id="163" name="Google Shape;163;p10"/>
              <p:cNvSpPr txBox="1"/>
              <p:nvPr/>
            </p:nvSpPr>
            <p:spPr>
              <a:xfrm>
                <a:off x="0" y="0"/>
                <a:ext cx="285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B3261E"/>
                    </a:solidFill>
                    <a:latin typeface="Consolas"/>
                    <a:ea typeface="Consolas"/>
                    <a:cs typeface="Consolas"/>
                    <a:sym typeface="Consolas"/>
                  </a:rPr>
                  <a:t>04</a:t>
                </a:r>
                <a:endParaRPr b="1" sz="1400">
                  <a:solidFill>
                    <a:srgbClr val="B3261E"/>
                  </a:solidFill>
                  <a:latin typeface="Consolas"/>
                  <a:ea typeface="Consolas"/>
                  <a:cs typeface="Consolas"/>
                  <a:sym typeface="Consolas"/>
                </a:endParaRPr>
              </a:p>
            </p:txBody>
          </p:sp>
          <p:sp>
            <p:nvSpPr>
              <p:cNvPr id="164" name="Google Shape;164;p10"/>
              <p:cNvSpPr txBox="1"/>
              <p:nvPr/>
            </p:nvSpPr>
            <p:spPr>
              <a:xfrm>
                <a:off x="381000" y="0"/>
                <a:ext cx="32004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16181C"/>
                    </a:solidFill>
                    <a:latin typeface="Georgia"/>
                    <a:ea typeface="Georgia"/>
                    <a:cs typeface="Georgia"/>
                    <a:sym typeface="Georgia"/>
                  </a:rPr>
                  <a:t>Intel-First Integration</a:t>
                </a:r>
                <a:endParaRPr b="1" sz="1250">
                  <a:solidFill>
                    <a:srgbClr val="16181C"/>
                  </a:solidFill>
                  <a:latin typeface="Georgia"/>
                  <a:ea typeface="Georgia"/>
                  <a:cs typeface="Georgia"/>
                  <a:sym typeface="Georgia"/>
                </a:endParaRPr>
              </a:p>
              <a:p>
                <a:pPr indent="0" lvl="0" marL="0" rtl="0" algn="l">
                  <a:spcBef>
                    <a:spcPts val="150"/>
                  </a:spcBef>
                  <a:spcAft>
                    <a:spcPts val="0"/>
                  </a:spcAft>
                  <a:buNone/>
                </a:pPr>
                <a:r>
                  <a:rPr lang="en" sz="1150">
                    <a:solidFill>
                      <a:srgbClr val="555555"/>
                    </a:solidFill>
                    <a:latin typeface="Georgia"/>
                    <a:ea typeface="Georgia"/>
                    <a:cs typeface="Georgia"/>
                    <a:sym typeface="Georgia"/>
                  </a:rPr>
                  <a:t>Lives in intel/ — the key differentiator versus a plain ML dashboard.</a:t>
                </a:r>
                <a:endParaRPr sz="1150">
                  <a:solidFill>
                    <a:srgbClr val="555555"/>
                  </a:solidFill>
                  <a:latin typeface="Georgia"/>
                  <a:ea typeface="Georgia"/>
                  <a:cs typeface="Georgia"/>
                  <a:sym typeface="Georgia"/>
                </a:endParaRPr>
              </a:p>
            </p:txBody>
          </p:sp>
        </p:grpSp>
      </p:grpSp>
      <p:sp>
        <p:nvSpPr>
          <p:cNvPr id="165" name="Google Shape;165;p10"/>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166" name="Google Shape;166;p10"/>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172" name="Google Shape;172;p11"/>
          <p:cNvSpPr txBox="1"/>
          <p:nvPr/>
        </p:nvSpPr>
        <p:spPr>
          <a:xfrm>
            <a:off x="442913" y="88582"/>
            <a:ext cx="71187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The policy decides. Not the model.</a:t>
            </a:r>
            <a:endParaRPr sz="1100"/>
          </a:p>
        </p:txBody>
      </p:sp>
      <p:sp>
        <p:nvSpPr>
          <p:cNvPr id="173" name="Google Shape;173;p11"/>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07</a:t>
            </a:r>
            <a:endParaRPr sz="1100"/>
          </a:p>
        </p:txBody>
      </p:sp>
      <p:grpSp>
        <p:nvGrpSpPr>
          <p:cNvPr id="174" name="Google Shape;174;p11"/>
          <p:cNvGrpSpPr/>
          <p:nvPr/>
        </p:nvGrpSpPr>
        <p:grpSpPr>
          <a:xfrm>
            <a:off x="457200" y="714375"/>
            <a:ext cx="7391400" cy="1914525"/>
            <a:chOff x="457200" y="714375"/>
            <a:chExt cx="7391400" cy="1914525"/>
          </a:xfrm>
        </p:grpSpPr>
        <p:sp>
          <p:nvSpPr>
            <p:cNvPr id="175" name="Google Shape;175;p11"/>
            <p:cNvSpPr/>
            <p:nvPr/>
          </p:nvSpPr>
          <p:spPr>
            <a:xfrm>
              <a:off x="457200" y="714375"/>
              <a:ext cx="3429000" cy="16668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6" name="Google Shape;176;p11"/>
            <p:cNvPicPr preferRelativeResize="0"/>
            <p:nvPr/>
          </p:nvPicPr>
          <p:blipFill rotWithShape="1">
            <a:blip r:embed="rId3">
              <a:alphaModFix/>
            </a:blip>
            <a:srcRect b="436" l="0" r="0" t="436"/>
            <a:stretch/>
          </p:blipFill>
          <p:spPr>
            <a:xfrm>
              <a:off x="476250" y="733425"/>
              <a:ext cx="3390900" cy="1628700"/>
            </a:xfrm>
            <a:prstGeom prst="rect">
              <a:avLst/>
            </a:prstGeom>
            <a:noFill/>
            <a:ln>
              <a:noFill/>
            </a:ln>
          </p:spPr>
        </p:pic>
        <p:sp>
          <p:nvSpPr>
            <p:cNvPr id="177" name="Google Shape;177;p11"/>
            <p:cNvSpPr txBox="1"/>
            <p:nvPr/>
          </p:nvSpPr>
          <p:spPr>
            <a:xfrm>
              <a:off x="457200" y="2438400"/>
              <a:ext cx="3429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PENDING APPROVAL</a:t>
              </a:r>
              <a:endParaRPr b="1" sz="1000">
                <a:solidFill>
                  <a:srgbClr val="6B6E73"/>
                </a:solidFill>
                <a:latin typeface="Consolas"/>
                <a:ea typeface="Consolas"/>
                <a:cs typeface="Consolas"/>
                <a:sym typeface="Consolas"/>
              </a:endParaRPr>
            </a:p>
          </p:txBody>
        </p:sp>
        <p:sp>
          <p:nvSpPr>
            <p:cNvPr id="178" name="Google Shape;178;p11"/>
            <p:cNvSpPr/>
            <p:nvPr/>
          </p:nvSpPr>
          <p:spPr>
            <a:xfrm>
              <a:off x="4038600" y="1447800"/>
              <a:ext cx="228600" cy="190500"/>
            </a:xfrm>
            <a:custGeom>
              <a:rect b="b" l="l" r="r" t="t"/>
              <a:pathLst>
                <a:path extrusionOk="0" h="120000" w="120000">
                  <a:moveTo>
                    <a:pt x="0" y="36000"/>
                  </a:moveTo>
                  <a:lnTo>
                    <a:pt x="60000" y="36000"/>
                  </a:lnTo>
                  <a:lnTo>
                    <a:pt x="60000" y="0"/>
                  </a:lnTo>
                  <a:lnTo>
                    <a:pt x="120000" y="60000"/>
                  </a:lnTo>
                  <a:lnTo>
                    <a:pt x="60000" y="120000"/>
                  </a:lnTo>
                  <a:lnTo>
                    <a:pt x="60000" y="84000"/>
                  </a:lnTo>
                  <a:lnTo>
                    <a:pt x="0" y="84000"/>
                  </a:lnTo>
                  <a:close/>
                </a:path>
              </a:pathLst>
            </a:cu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1"/>
            <p:cNvSpPr/>
            <p:nvPr/>
          </p:nvSpPr>
          <p:spPr>
            <a:xfrm>
              <a:off x="4419600" y="714375"/>
              <a:ext cx="3429000" cy="16668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0" name="Google Shape;180;p11"/>
            <p:cNvPicPr preferRelativeResize="0"/>
            <p:nvPr/>
          </p:nvPicPr>
          <p:blipFill rotWithShape="1">
            <a:blip r:embed="rId4">
              <a:alphaModFix/>
            </a:blip>
            <a:srcRect b="436" l="0" r="0" t="436"/>
            <a:stretch/>
          </p:blipFill>
          <p:spPr>
            <a:xfrm>
              <a:off x="4438650" y="733425"/>
              <a:ext cx="3390900" cy="1628700"/>
            </a:xfrm>
            <a:prstGeom prst="rect">
              <a:avLst/>
            </a:prstGeom>
            <a:noFill/>
            <a:ln>
              <a:noFill/>
            </a:ln>
          </p:spPr>
        </p:pic>
        <p:sp>
          <p:nvSpPr>
            <p:cNvPr id="181" name="Google Shape;181;p11"/>
            <p:cNvSpPr txBox="1"/>
            <p:nvPr/>
          </p:nvSpPr>
          <p:spPr>
            <a:xfrm>
              <a:off x="4419600" y="2438400"/>
              <a:ext cx="3429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AFTER APPROVAL — CONTAINED</a:t>
              </a:r>
              <a:endParaRPr b="1" sz="1000">
                <a:solidFill>
                  <a:srgbClr val="6B6E73"/>
                </a:solidFill>
                <a:latin typeface="Consolas"/>
                <a:ea typeface="Consolas"/>
                <a:cs typeface="Consolas"/>
                <a:sym typeface="Consolas"/>
              </a:endParaRPr>
            </a:p>
          </p:txBody>
        </p:sp>
      </p:grpSp>
      <p:grpSp>
        <p:nvGrpSpPr>
          <p:cNvPr id="182" name="Google Shape;182;p11"/>
          <p:cNvGrpSpPr/>
          <p:nvPr/>
        </p:nvGrpSpPr>
        <p:grpSpPr>
          <a:xfrm>
            <a:off x="457200" y="2762250"/>
            <a:ext cx="4857900" cy="1447800"/>
            <a:chOff x="457200" y="2762250"/>
            <a:chExt cx="4857900" cy="1447800"/>
          </a:xfrm>
        </p:grpSpPr>
        <p:sp>
          <p:nvSpPr>
            <p:cNvPr id="183" name="Google Shape;183;p11"/>
            <p:cNvSpPr/>
            <p:nvPr/>
          </p:nvSpPr>
          <p:spPr>
            <a:xfrm>
              <a:off x="457200" y="2762250"/>
              <a:ext cx="4857900" cy="14478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1"/>
            <p:cNvSpPr/>
            <p:nvPr/>
          </p:nvSpPr>
          <p:spPr>
            <a:xfrm>
              <a:off x="457200" y="2762250"/>
              <a:ext cx="4857900" cy="304800"/>
            </a:xfrm>
            <a:prstGeom prst="rect">
              <a:avLst/>
            </a:prstGeom>
            <a:solidFill>
              <a:srgbClr val="E8E3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1"/>
            <p:cNvSpPr txBox="1"/>
            <p:nvPr/>
          </p:nvSpPr>
          <p:spPr>
            <a:xfrm>
              <a:off x="457200" y="2762250"/>
              <a:ext cx="4857900" cy="30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16181C"/>
                  </a:solidFill>
                  <a:latin typeface="Consolas"/>
                  <a:ea typeface="Consolas"/>
                  <a:cs typeface="Consolas"/>
                  <a:sym typeface="Consolas"/>
                </a:rPr>
                <a:t>CONDITIONACTIONAPPROVAL?</a:t>
              </a:r>
              <a:endParaRPr b="1" sz="1000">
                <a:solidFill>
                  <a:srgbClr val="16181C"/>
                </a:solidFill>
                <a:latin typeface="Consolas"/>
                <a:ea typeface="Consolas"/>
                <a:cs typeface="Consolas"/>
                <a:sym typeface="Consolas"/>
              </a:endParaRPr>
            </a:p>
          </p:txBody>
        </p:sp>
        <p:cxnSp>
          <p:nvCxnSpPr>
            <p:cNvPr id="186" name="Google Shape;186;p11"/>
            <p:cNvCxnSpPr/>
            <p:nvPr/>
          </p:nvCxnSpPr>
          <p:spPr>
            <a:xfrm>
              <a:off x="457200" y="3067050"/>
              <a:ext cx="4857900" cy="0"/>
            </a:xfrm>
            <a:prstGeom prst="straightConnector1">
              <a:avLst/>
            </a:prstGeom>
            <a:solidFill>
              <a:srgbClr val="FFFFFF"/>
            </a:solidFill>
            <a:ln cap="flat" cmpd="sng" w="19050">
              <a:solidFill>
                <a:srgbClr val="16181C"/>
              </a:solidFill>
              <a:prstDash val="solid"/>
              <a:round/>
              <a:headEnd len="sm" w="sm" type="none"/>
              <a:tailEnd len="sm" w="sm" type="none"/>
            </a:ln>
          </p:spPr>
        </p:cxnSp>
        <p:sp>
          <p:nvSpPr>
            <p:cNvPr id="187" name="Google Shape;187;p11"/>
            <p:cNvSpPr txBox="1"/>
            <p:nvPr/>
          </p:nvSpPr>
          <p:spPr>
            <a:xfrm>
              <a:off x="457200" y="3067050"/>
              <a:ext cx="4857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6181C"/>
                  </a:solidFill>
                  <a:latin typeface="Consolas"/>
                  <a:ea typeface="Consolas"/>
                  <a:cs typeface="Consolas"/>
                  <a:sym typeface="Consolas"/>
                </a:rPr>
                <a:t>severity critical/high &amp; score≥0.9       </a:t>
              </a:r>
              <a:r>
                <a:rPr b="1" lang="en" sz="1000">
                  <a:solidFill>
                    <a:srgbClr val="16181C"/>
                  </a:solidFill>
                  <a:latin typeface="Consolas"/>
                  <a:ea typeface="Consolas"/>
                  <a:cs typeface="Consolas"/>
                  <a:sym typeface="Consolas"/>
                </a:rPr>
                <a:t>isolate_host     </a:t>
              </a:r>
              <a:r>
                <a:rPr b="1" lang="en" sz="1000">
                  <a:solidFill>
                    <a:srgbClr val="B3261E"/>
                  </a:solidFill>
                  <a:latin typeface="Consolas"/>
                  <a:ea typeface="Consolas"/>
                  <a:cs typeface="Consolas"/>
                  <a:sym typeface="Consolas"/>
                </a:rPr>
                <a:t>✓ required</a:t>
              </a:r>
              <a:endParaRPr sz="1000">
                <a:solidFill>
                  <a:srgbClr val="16181C"/>
                </a:solidFill>
                <a:latin typeface="Consolas"/>
                <a:ea typeface="Consolas"/>
                <a:cs typeface="Consolas"/>
                <a:sym typeface="Consolas"/>
              </a:endParaRPr>
            </a:p>
          </p:txBody>
        </p:sp>
        <p:cxnSp>
          <p:nvCxnSpPr>
            <p:cNvPr id="188" name="Google Shape;188;p11"/>
            <p:cNvCxnSpPr/>
            <p:nvPr/>
          </p:nvCxnSpPr>
          <p:spPr>
            <a:xfrm>
              <a:off x="457200" y="3448050"/>
              <a:ext cx="4857900" cy="0"/>
            </a:xfrm>
            <a:prstGeom prst="straightConnector1">
              <a:avLst/>
            </a:prstGeom>
            <a:solidFill>
              <a:srgbClr val="FFFFFF"/>
            </a:solidFill>
            <a:ln cap="flat" cmpd="sng" w="9525">
              <a:solidFill>
                <a:srgbClr val="16181C"/>
              </a:solidFill>
              <a:prstDash val="solid"/>
              <a:round/>
              <a:headEnd len="sm" w="sm" type="none"/>
              <a:tailEnd len="sm" w="sm" type="none"/>
            </a:ln>
          </p:spPr>
        </p:cxnSp>
        <p:sp>
          <p:nvSpPr>
            <p:cNvPr id="189" name="Google Shape;189;p11"/>
            <p:cNvSpPr txBox="1"/>
            <p:nvPr/>
          </p:nvSpPr>
          <p:spPr>
            <a:xfrm>
              <a:off x="457200" y="3448050"/>
              <a:ext cx="4857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6181C"/>
                  </a:solidFill>
                  <a:latin typeface="Consolas"/>
                  <a:ea typeface="Consolas"/>
                  <a:cs typeface="Consolas"/>
                  <a:sym typeface="Consolas"/>
                </a:rPr>
                <a:t>score 0.7 – 0.9       </a:t>
              </a:r>
              <a:r>
                <a:rPr b="1" lang="en" sz="1000">
                  <a:solidFill>
                    <a:srgbClr val="16181C"/>
                  </a:solidFill>
                  <a:latin typeface="Consolas"/>
                  <a:ea typeface="Consolas"/>
                  <a:cs typeface="Consolas"/>
                  <a:sym typeface="Consolas"/>
                </a:rPr>
                <a:t>block_ip  </a:t>
              </a:r>
              <a:r>
                <a:rPr lang="en" sz="1000">
                  <a:solidFill>
                    <a:srgbClr val="6B6E73"/>
                  </a:solidFill>
                  <a:latin typeface="Consolas"/>
                  <a:ea typeface="Consolas"/>
                  <a:cs typeface="Consolas"/>
                  <a:sym typeface="Consolas"/>
                </a:rPr>
                <a:t>auto</a:t>
              </a:r>
              <a:endParaRPr sz="1000">
                <a:solidFill>
                  <a:srgbClr val="16181C"/>
                </a:solidFill>
                <a:latin typeface="Consolas"/>
                <a:ea typeface="Consolas"/>
                <a:cs typeface="Consolas"/>
                <a:sym typeface="Consolas"/>
              </a:endParaRPr>
            </a:p>
          </p:txBody>
        </p:sp>
        <p:cxnSp>
          <p:nvCxnSpPr>
            <p:cNvPr id="190" name="Google Shape;190;p11"/>
            <p:cNvCxnSpPr/>
            <p:nvPr/>
          </p:nvCxnSpPr>
          <p:spPr>
            <a:xfrm>
              <a:off x="457200" y="3829050"/>
              <a:ext cx="4857900" cy="0"/>
            </a:xfrm>
            <a:prstGeom prst="straightConnector1">
              <a:avLst/>
            </a:prstGeom>
            <a:solidFill>
              <a:srgbClr val="FFFFFF"/>
            </a:solidFill>
            <a:ln cap="flat" cmpd="sng" w="9525">
              <a:solidFill>
                <a:srgbClr val="16181C"/>
              </a:solidFill>
              <a:prstDash val="solid"/>
              <a:round/>
              <a:headEnd len="sm" w="sm" type="none"/>
              <a:tailEnd len="sm" w="sm" type="none"/>
            </a:ln>
          </p:spPr>
        </p:cxnSp>
        <p:sp>
          <p:nvSpPr>
            <p:cNvPr id="191" name="Google Shape;191;p11"/>
            <p:cNvSpPr txBox="1"/>
            <p:nvPr/>
          </p:nvSpPr>
          <p:spPr>
            <a:xfrm>
              <a:off x="457200" y="3829050"/>
              <a:ext cx="4857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16181C"/>
                  </a:solidFill>
                  <a:latin typeface="Consolas"/>
                  <a:ea typeface="Consolas"/>
                  <a:cs typeface="Consolas"/>
                  <a:sym typeface="Consolas"/>
                </a:rPr>
                <a:t>score &lt; 0.7    </a:t>
              </a:r>
              <a:r>
                <a:rPr b="1" lang="en" sz="1000">
                  <a:solidFill>
                    <a:srgbClr val="16181C"/>
                  </a:solidFill>
                  <a:latin typeface="Consolas"/>
                  <a:ea typeface="Consolas"/>
                  <a:cs typeface="Consolas"/>
                  <a:sym typeface="Consolas"/>
                </a:rPr>
                <a:t>monitor     </a:t>
              </a:r>
              <a:r>
                <a:rPr lang="en" sz="1000">
                  <a:solidFill>
                    <a:srgbClr val="6B6E73"/>
                  </a:solidFill>
                  <a:latin typeface="Consolas"/>
                  <a:ea typeface="Consolas"/>
                  <a:cs typeface="Consolas"/>
                  <a:sym typeface="Consolas"/>
                </a:rPr>
                <a:t>auto</a:t>
              </a:r>
              <a:endParaRPr sz="1000">
                <a:solidFill>
                  <a:srgbClr val="16181C"/>
                </a:solidFill>
                <a:latin typeface="Consolas"/>
                <a:ea typeface="Consolas"/>
                <a:cs typeface="Consolas"/>
                <a:sym typeface="Consolas"/>
              </a:endParaRPr>
            </a:p>
          </p:txBody>
        </p:sp>
      </p:grpSp>
      <p:grpSp>
        <p:nvGrpSpPr>
          <p:cNvPr id="192" name="Google Shape;192;p11"/>
          <p:cNvGrpSpPr/>
          <p:nvPr/>
        </p:nvGrpSpPr>
        <p:grpSpPr>
          <a:xfrm>
            <a:off x="5486400" y="2762250"/>
            <a:ext cx="2743200" cy="1447800"/>
            <a:chOff x="5486400" y="2762250"/>
            <a:chExt cx="2743200" cy="1447800"/>
          </a:xfrm>
        </p:grpSpPr>
        <p:sp>
          <p:nvSpPr>
            <p:cNvPr id="193" name="Google Shape;193;p11"/>
            <p:cNvSpPr/>
            <p:nvPr/>
          </p:nvSpPr>
          <p:spPr>
            <a:xfrm>
              <a:off x="5486400" y="2762250"/>
              <a:ext cx="2743200" cy="14478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1"/>
            <p:cNvSpPr txBox="1"/>
            <p:nvPr/>
          </p:nvSpPr>
          <p:spPr>
            <a:xfrm>
              <a:off x="5486400" y="2762250"/>
              <a:ext cx="2743200" cy="1447800"/>
            </a:xfrm>
            <a:prstGeom prst="rect">
              <a:avLst/>
            </a:prstGeom>
            <a:noFill/>
            <a:ln>
              <a:noFill/>
            </a:ln>
          </p:spPr>
          <p:txBody>
            <a:bodyPr anchorCtr="0" anchor="ctr" bIns="114300" lIns="114300" spcFirstLastPara="1" rIns="114300" wrap="square" tIns="114300">
              <a:noAutofit/>
            </a:bodyPr>
            <a:lstStyle/>
            <a:p>
              <a:pPr indent="0" lvl="0" marL="0" rtl="0" algn="l">
                <a:spcBef>
                  <a:spcPts val="0"/>
                </a:spcBef>
                <a:spcAft>
                  <a:spcPts val="0"/>
                </a:spcAft>
                <a:buNone/>
              </a:pPr>
              <a:r>
                <a:rPr b="1" lang="en" sz="900">
                  <a:solidFill>
                    <a:srgbClr val="6B6E73"/>
                  </a:solidFill>
                  <a:latin typeface="Consolas"/>
                  <a:ea typeface="Consolas"/>
                  <a:cs typeface="Consolas"/>
                  <a:sym typeface="Consolas"/>
                </a:rPr>
                <a:t>TAMPER-EVIDENT AUDIT</a:t>
              </a:r>
              <a:endParaRPr b="1" sz="900">
                <a:solidFill>
                  <a:srgbClr val="6B6E73"/>
                </a:solidFill>
                <a:latin typeface="Consolas"/>
                <a:ea typeface="Consolas"/>
                <a:cs typeface="Consolas"/>
                <a:sym typeface="Consolas"/>
              </a:endParaRPr>
            </a:p>
            <a:p>
              <a:pPr indent="0" lvl="0" marL="0" rtl="0" algn="l">
                <a:spcBef>
                  <a:spcPts val="450"/>
                </a:spcBef>
                <a:spcAft>
                  <a:spcPts val="0"/>
                </a:spcAft>
                <a:buNone/>
              </a:pPr>
              <a:r>
                <a:rPr lang="en" sz="1000">
                  <a:solidFill>
                    <a:srgbClr val="16181C"/>
                  </a:solidFill>
                  <a:latin typeface="Consolas"/>
                  <a:ea typeface="Consolas"/>
                  <a:cs typeface="Consolas"/>
                  <a:sym typeface="Consolas"/>
                </a:rPr>
                <a:t>entry_hash = sha256(</a:t>
              </a:r>
              <a:br>
                <a:rPr lang="en" sz="1000">
                  <a:solidFill>
                    <a:srgbClr val="16181C"/>
                  </a:solidFill>
                  <a:latin typeface="Consolas"/>
                  <a:ea typeface="Consolas"/>
                  <a:cs typeface="Consolas"/>
                  <a:sym typeface="Consolas"/>
                </a:rPr>
              </a:br>
              <a:r>
                <a:rPr lang="en" sz="1000">
                  <a:solidFill>
                    <a:srgbClr val="16181C"/>
                  </a:solidFill>
                  <a:latin typeface="Consolas"/>
                  <a:ea typeface="Consolas"/>
                  <a:cs typeface="Consolas"/>
                  <a:sym typeface="Consolas"/>
                </a:rPr>
                <a:t>  prev_hash + entry)</a:t>
              </a:r>
              <a:endParaRPr sz="1000">
                <a:solidFill>
                  <a:srgbClr val="16181C"/>
                </a:solidFill>
                <a:latin typeface="Consolas"/>
                <a:ea typeface="Consolas"/>
                <a:cs typeface="Consolas"/>
                <a:sym typeface="Consolas"/>
              </a:endParaRPr>
            </a:p>
            <a:p>
              <a:pPr indent="0" lvl="0" marL="0" rtl="0" algn="l">
                <a:spcBef>
                  <a:spcPts val="450"/>
                </a:spcBef>
                <a:spcAft>
                  <a:spcPts val="0"/>
                </a:spcAft>
                <a:buNone/>
              </a:pPr>
              <a:r>
                <a:rPr lang="en" sz="1000">
                  <a:solidFill>
                    <a:srgbClr val="3F4247"/>
                  </a:solidFill>
                  <a:latin typeface="Georgia"/>
                  <a:ea typeface="Georgia"/>
                  <a:cs typeface="Georgia"/>
                  <a:sym typeface="Georgia"/>
                </a:rPr>
                <a:t>Re-verified client-side; every playbook logs simulated_success.</a:t>
              </a:r>
              <a:endParaRPr sz="1000">
                <a:solidFill>
                  <a:srgbClr val="3F4247"/>
                </a:solidFill>
                <a:latin typeface="Georgia"/>
                <a:ea typeface="Georgia"/>
                <a:cs typeface="Georgia"/>
                <a:sym typeface="Georgia"/>
              </a:endParaRPr>
            </a:p>
          </p:txBody>
        </p:sp>
      </p:grpSp>
      <p:sp>
        <p:nvSpPr>
          <p:cNvPr id="195" name="Google Shape;195;p11"/>
          <p:cNvSpPr/>
          <p:nvPr/>
        </p:nvSpPr>
        <p:spPr>
          <a:xfrm>
            <a:off x="457200" y="4524375"/>
            <a:ext cx="7772400" cy="0"/>
          </a:xfrm>
          <a:custGeom>
            <a:rect b="b" l="l" r="r" t="t"/>
            <a:pathLst>
              <a:path extrusionOk="0" h="120000" w="120000">
                <a:moveTo>
                  <a:pt x="0" y="0"/>
                </a:moveTo>
                <a:lnTo>
                  <a:pt x="120000" y="0"/>
                </a:lnTo>
              </a:path>
            </a:pathLst>
          </a:custGeom>
          <a:solidFill>
            <a:srgbClr val="000000">
              <a:alpha val="0"/>
            </a:srgbClr>
          </a:solidFill>
          <a:ln cap="flat" cmpd="sng" w="1430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1"/>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2"/>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202" name="Google Shape;202;p12"/>
          <p:cNvSpPr txBox="1"/>
          <p:nvPr/>
        </p:nvSpPr>
        <p:spPr>
          <a:xfrm>
            <a:off x="442913" y="88582"/>
            <a:ext cx="63612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One screen, the whole pipeline</a:t>
            </a:r>
            <a:endParaRPr sz="1100"/>
          </a:p>
        </p:txBody>
      </p:sp>
      <p:sp>
        <p:nvSpPr>
          <p:cNvPr id="203" name="Google Shape;203;p12"/>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08</a:t>
            </a:r>
            <a:endParaRPr sz="1100"/>
          </a:p>
        </p:txBody>
      </p:sp>
      <p:grpSp>
        <p:nvGrpSpPr>
          <p:cNvPr id="204" name="Google Shape;204;p12"/>
          <p:cNvGrpSpPr/>
          <p:nvPr/>
        </p:nvGrpSpPr>
        <p:grpSpPr>
          <a:xfrm>
            <a:off x="457200" y="857250"/>
            <a:ext cx="4000500" cy="3238500"/>
            <a:chOff x="0" y="0"/>
            <a:chExt cx="4000500" cy="3238500"/>
          </a:xfrm>
        </p:grpSpPr>
        <p:sp>
          <p:nvSpPr>
            <p:cNvPr id="205" name="Google Shape;205;p12"/>
            <p:cNvSpPr/>
            <p:nvPr/>
          </p:nvSpPr>
          <p:spPr>
            <a:xfrm>
              <a:off x="0" y="0"/>
              <a:ext cx="4000500" cy="32385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6" name="Google Shape;206;p12"/>
            <p:cNvPicPr preferRelativeResize="0"/>
            <p:nvPr/>
          </p:nvPicPr>
          <p:blipFill rotWithShape="1">
            <a:blip r:embed="rId3">
              <a:alphaModFix/>
            </a:blip>
            <a:srcRect b="11544" l="0" r="0" t="11544"/>
            <a:stretch/>
          </p:blipFill>
          <p:spPr>
            <a:xfrm>
              <a:off x="114300" y="114300"/>
              <a:ext cx="3771900" cy="2667000"/>
            </a:xfrm>
            <a:prstGeom prst="rect">
              <a:avLst/>
            </a:prstGeom>
            <a:noFill/>
            <a:ln>
              <a:noFill/>
            </a:ln>
          </p:spPr>
        </p:pic>
        <p:sp>
          <p:nvSpPr>
            <p:cNvPr id="207" name="Google Shape;207;p12"/>
            <p:cNvSpPr txBox="1"/>
            <p:nvPr/>
          </p:nvSpPr>
          <p:spPr>
            <a:xfrm>
              <a:off x="114300" y="2895600"/>
              <a:ext cx="377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LIVE INCIDENT FEED — DASHBOARD</a:t>
              </a:r>
              <a:endParaRPr b="1" sz="1000">
                <a:solidFill>
                  <a:srgbClr val="6B6E73"/>
                </a:solidFill>
                <a:latin typeface="Consolas"/>
                <a:ea typeface="Consolas"/>
                <a:cs typeface="Consolas"/>
                <a:sym typeface="Consolas"/>
              </a:endParaRPr>
            </a:p>
          </p:txBody>
        </p:sp>
      </p:grpSp>
      <p:grpSp>
        <p:nvGrpSpPr>
          <p:cNvPr id="208" name="Google Shape;208;p12"/>
          <p:cNvGrpSpPr/>
          <p:nvPr/>
        </p:nvGrpSpPr>
        <p:grpSpPr>
          <a:xfrm>
            <a:off x="4762500" y="857250"/>
            <a:ext cx="3924300" cy="3286050"/>
            <a:chOff x="0" y="0"/>
            <a:chExt cx="3924300" cy="3286050"/>
          </a:xfrm>
        </p:grpSpPr>
        <p:sp>
          <p:nvSpPr>
            <p:cNvPr id="209" name="Google Shape;209;p12"/>
            <p:cNvSpPr txBox="1"/>
            <p:nvPr/>
          </p:nvSpPr>
          <p:spPr>
            <a:xfrm>
              <a:off x="0" y="0"/>
              <a:ext cx="39243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16181C"/>
                  </a:solidFill>
                  <a:latin typeface="Georgia"/>
                  <a:ea typeface="Georgia"/>
                  <a:cs typeface="Georgia"/>
                  <a:sym typeface="Georgia"/>
                </a:rPr>
                <a:t>The live incident feed proves the pipeline runs end-to-end.</a:t>
              </a:r>
              <a:endParaRPr b="0" sz="1600">
                <a:solidFill>
                  <a:srgbClr val="16181C"/>
                </a:solidFill>
                <a:latin typeface="Georgia"/>
                <a:ea typeface="Georgia"/>
                <a:cs typeface="Georgia"/>
                <a:sym typeface="Georgia"/>
              </a:endParaRPr>
            </a:p>
          </p:txBody>
        </p:sp>
        <p:pic>
          <p:nvPicPr>
            <p:cNvPr id="210" name="Google Shape;210;p12"/>
            <p:cNvPicPr preferRelativeResize="0"/>
            <p:nvPr/>
          </p:nvPicPr>
          <p:blipFill rotWithShape="1">
            <a:blip r:embed="rId4">
              <a:alphaModFix/>
            </a:blip>
            <a:srcRect b="0" l="0" r="0" t="0"/>
            <a:stretch/>
          </p:blipFill>
          <p:spPr>
            <a:xfrm>
              <a:off x="0" y="804863"/>
              <a:ext cx="3914700" cy="9600"/>
            </a:xfrm>
            <a:prstGeom prst="rect">
              <a:avLst/>
            </a:prstGeom>
            <a:noFill/>
            <a:ln>
              <a:noFill/>
            </a:ln>
          </p:spPr>
        </p:pic>
        <p:sp>
          <p:nvSpPr>
            <p:cNvPr id="211" name="Google Shape;211;p12"/>
            <p:cNvSpPr txBox="1"/>
            <p:nvPr/>
          </p:nvSpPr>
          <p:spPr>
            <a:xfrm>
              <a:off x="0" y="952500"/>
              <a:ext cx="39243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B3261E"/>
                  </a:solidFill>
                  <a:latin typeface="Consolas"/>
                  <a:ea typeface="Consolas"/>
                  <a:cs typeface="Consolas"/>
                  <a:sym typeface="Consolas"/>
                </a:rPr>
                <a:t>GET /stream</a:t>
              </a:r>
              <a:endParaRPr b="1" sz="1400">
                <a:solidFill>
                  <a:srgbClr val="B3261E"/>
                </a:solidFill>
                <a:latin typeface="Consolas"/>
                <a:ea typeface="Consolas"/>
                <a:cs typeface="Consolas"/>
                <a:sym typeface="Consolas"/>
              </a:endParaRPr>
            </a:p>
            <a:p>
              <a:pPr indent="0" lvl="0" marL="0" rtl="0" algn="l">
                <a:spcBef>
                  <a:spcPts val="450"/>
                </a:spcBef>
                <a:spcAft>
                  <a:spcPts val="0"/>
                </a:spcAft>
                <a:buNone/>
              </a:pPr>
              <a:r>
                <a:rPr lang="en" sz="1200">
                  <a:solidFill>
                    <a:srgbClr val="3F4247"/>
                  </a:solidFill>
                  <a:latin typeface="Georgia"/>
                  <a:ea typeface="Georgia"/>
                  <a:cs typeface="Georgia"/>
                  <a:sym typeface="Georgia"/>
                </a:rPr>
                <a:t>(SSE) — built first, proves the pipe.</a:t>
              </a:r>
              <a:endParaRPr sz="1200">
                <a:solidFill>
                  <a:srgbClr val="3F4247"/>
                </a:solidFill>
                <a:latin typeface="Georgia"/>
                <a:ea typeface="Georgia"/>
                <a:cs typeface="Georgia"/>
                <a:sym typeface="Georgia"/>
              </a:endParaRPr>
            </a:p>
          </p:txBody>
        </p:sp>
        <p:pic>
          <p:nvPicPr>
            <p:cNvPr id="212" name="Google Shape;212;p12"/>
            <p:cNvPicPr preferRelativeResize="0"/>
            <p:nvPr/>
          </p:nvPicPr>
          <p:blipFill rotWithShape="1">
            <a:blip r:embed="rId4">
              <a:alphaModFix/>
            </a:blip>
            <a:srcRect b="0" l="0" r="0" t="0"/>
            <a:stretch/>
          </p:blipFill>
          <p:spPr>
            <a:xfrm>
              <a:off x="0" y="1852613"/>
              <a:ext cx="3914700" cy="9600"/>
            </a:xfrm>
            <a:prstGeom prst="rect">
              <a:avLst/>
            </a:prstGeom>
            <a:noFill/>
            <a:ln>
              <a:noFill/>
            </a:ln>
          </p:spPr>
        </p:pic>
        <p:sp>
          <p:nvSpPr>
            <p:cNvPr id="213" name="Google Shape;213;p12"/>
            <p:cNvSpPr txBox="1"/>
            <p:nvPr/>
          </p:nvSpPr>
          <p:spPr>
            <a:xfrm>
              <a:off x="0" y="2000250"/>
              <a:ext cx="39243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6B6E73"/>
                  </a:solidFill>
                  <a:latin typeface="Consolas"/>
                  <a:ea typeface="Consolas"/>
                  <a:cs typeface="Consolas"/>
                  <a:sym typeface="Consolas"/>
                </a:rPr>
                <a:t>PIPELINE CAPABILITIES</a:t>
              </a:r>
              <a:endParaRPr b="1" sz="1100">
                <a:solidFill>
                  <a:srgbClr val="6B6E73"/>
                </a:solidFill>
                <a:latin typeface="Consolas"/>
                <a:ea typeface="Consolas"/>
                <a:cs typeface="Consolas"/>
                <a:sym typeface="Consolas"/>
              </a:endParaRPr>
            </a:p>
            <a:p>
              <a:pPr indent="-304800" lvl="0" marL="457200" rtl="0" algn="l">
                <a:spcBef>
                  <a:spcPts val="750"/>
                </a:spcBef>
                <a:spcAft>
                  <a:spcPts val="0"/>
                </a:spcAft>
                <a:buClr>
                  <a:srgbClr val="16181C"/>
                </a:buClr>
                <a:buSzPts val="1200"/>
                <a:buFont typeface="Georgia"/>
                <a:buChar char="●"/>
              </a:pPr>
              <a:r>
                <a:rPr lang="en" sz="1200">
                  <a:solidFill>
                    <a:srgbClr val="16181C"/>
                  </a:solidFill>
                  <a:latin typeface="Georgia"/>
                  <a:ea typeface="Georgia"/>
                  <a:cs typeface="Georgia"/>
                  <a:sym typeface="Georgia"/>
                </a:rPr>
                <a:t>MITRE grid</a:t>
              </a:r>
              <a:endParaRPr sz="1200">
                <a:solidFill>
                  <a:srgbClr val="16181C"/>
                </a:solidFill>
                <a:latin typeface="Georgia"/>
                <a:ea typeface="Georgia"/>
                <a:cs typeface="Georgia"/>
                <a:sym typeface="Georgia"/>
              </a:endParaRPr>
            </a:p>
            <a:p>
              <a:pPr indent="-304800" lvl="0" marL="457200" rtl="0" algn="l">
                <a:spcBef>
                  <a:spcPts val="450"/>
                </a:spcBef>
                <a:spcAft>
                  <a:spcPts val="0"/>
                </a:spcAft>
                <a:buClr>
                  <a:srgbClr val="16181C"/>
                </a:buClr>
                <a:buSzPts val="1200"/>
                <a:buFont typeface="Georgia"/>
                <a:buChar char="●"/>
              </a:pPr>
              <a:r>
                <a:rPr lang="en" sz="1200">
                  <a:solidFill>
                    <a:srgbClr val="16181C"/>
                  </a:solidFill>
                  <a:latin typeface="Georgia"/>
                  <a:ea typeface="Georgia"/>
                  <a:cs typeface="Georgia"/>
                  <a:sym typeface="Georgia"/>
                </a:rPr>
                <a:t>Incident detail</a:t>
              </a:r>
              <a:endParaRPr sz="1200">
                <a:solidFill>
                  <a:srgbClr val="16181C"/>
                </a:solidFill>
                <a:latin typeface="Georgia"/>
                <a:ea typeface="Georgia"/>
                <a:cs typeface="Georgia"/>
                <a:sym typeface="Georgia"/>
              </a:endParaRPr>
            </a:p>
            <a:p>
              <a:pPr indent="-304800" lvl="0" marL="457200" rtl="0" algn="l">
                <a:spcBef>
                  <a:spcPts val="450"/>
                </a:spcBef>
                <a:spcAft>
                  <a:spcPts val="0"/>
                </a:spcAft>
                <a:buClr>
                  <a:srgbClr val="16181C"/>
                </a:buClr>
                <a:buSzPts val="1200"/>
                <a:buFont typeface="Georgia"/>
                <a:buChar char="●"/>
              </a:pPr>
              <a:r>
                <a:rPr lang="en" sz="1200">
                  <a:solidFill>
                    <a:srgbClr val="16181C"/>
                  </a:solidFill>
                  <a:latin typeface="Georgia"/>
                  <a:ea typeface="Georgia"/>
                  <a:cs typeface="Georgia"/>
                  <a:sym typeface="Georgia"/>
                </a:rPr>
                <a:t>Risk-ranked queue</a:t>
              </a:r>
              <a:endParaRPr sz="1200">
                <a:solidFill>
                  <a:srgbClr val="16181C"/>
                </a:solidFill>
                <a:latin typeface="Georgia"/>
                <a:ea typeface="Georgia"/>
                <a:cs typeface="Georgia"/>
                <a:sym typeface="Georgia"/>
              </a:endParaRPr>
            </a:p>
            <a:p>
              <a:pPr indent="-304800" lvl="0" marL="457200" rtl="0" algn="l">
                <a:spcBef>
                  <a:spcPts val="450"/>
                </a:spcBef>
                <a:spcAft>
                  <a:spcPts val="0"/>
                </a:spcAft>
                <a:buClr>
                  <a:srgbClr val="16181C"/>
                </a:buClr>
                <a:buSzPts val="1200"/>
                <a:buFont typeface="Georgia"/>
                <a:buChar char="●"/>
              </a:pPr>
              <a:r>
                <a:rPr lang="en" sz="1200">
                  <a:solidFill>
                    <a:srgbClr val="16181C"/>
                  </a:solidFill>
                  <a:latin typeface="Georgia"/>
                  <a:ea typeface="Georgia"/>
                  <a:cs typeface="Georgia"/>
                  <a:sym typeface="Georgia"/>
                </a:rPr>
                <a:t>Audit view</a:t>
              </a:r>
              <a:endParaRPr sz="1200">
                <a:solidFill>
                  <a:srgbClr val="16181C"/>
                </a:solidFill>
                <a:latin typeface="Georgia"/>
                <a:ea typeface="Georgia"/>
                <a:cs typeface="Georgia"/>
                <a:sym typeface="Georgia"/>
              </a:endParaRPr>
            </a:p>
          </p:txBody>
        </p:sp>
      </p:grpSp>
      <p:sp>
        <p:nvSpPr>
          <p:cNvPr id="214" name="Google Shape;214;p12"/>
          <p:cNvSpPr/>
          <p:nvPr/>
        </p:nvSpPr>
        <p:spPr>
          <a:xfrm>
            <a:off x="457200" y="4381500"/>
            <a:ext cx="8229600" cy="0"/>
          </a:xfrm>
          <a:custGeom>
            <a:rect b="b" l="l" r="r" t="t"/>
            <a:pathLst>
              <a:path extrusionOk="0" h="120000" w="120000">
                <a:moveTo>
                  <a:pt x="0" y="0"/>
                </a:moveTo>
                <a:lnTo>
                  <a:pt x="120000" y="0"/>
                </a:lnTo>
              </a:path>
            </a:pathLst>
          </a:custGeom>
          <a:solidFill>
            <a:srgbClr val="000000">
              <a:alpha val="0"/>
            </a:srgbClr>
          </a:solidFill>
          <a:ln cap="flat" cmpd="sng" w="1430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2"/>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221" name="Google Shape;221;p13"/>
          <p:cNvSpPr txBox="1"/>
          <p:nvPr/>
        </p:nvSpPr>
        <p:spPr>
          <a:xfrm>
            <a:off x="442913" y="88582"/>
            <a:ext cx="71040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A real knowledge graph, not a grid</a:t>
            </a:r>
            <a:endParaRPr sz="1100"/>
          </a:p>
        </p:txBody>
      </p:sp>
      <p:sp>
        <p:nvSpPr>
          <p:cNvPr id="222" name="Google Shape;222;p13"/>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09</a:t>
            </a:r>
            <a:endParaRPr sz="1100"/>
          </a:p>
        </p:txBody>
      </p:sp>
      <p:sp>
        <p:nvSpPr>
          <p:cNvPr id="223" name="Google Shape;223;p13"/>
          <p:cNvSpPr txBox="1"/>
          <p:nvPr/>
        </p:nvSpPr>
        <p:spPr>
          <a:xfrm>
            <a:off x="457200" y="619125"/>
            <a:ext cx="8229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i="1" lang="en" sz="1203">
                <a:solidFill>
                  <a:srgbClr val="3F4247"/>
                </a:solidFill>
                <a:latin typeface="Georgia"/>
                <a:ea typeface="Georgia"/>
                <a:cs typeface="Georgia"/>
                <a:sym typeface="Georgia"/>
              </a:rPr>
              <a:t>Correlating events by host into a src → dst graph surfaces lateral movement — the knowledge-graph capability the brief asks for.</a:t>
            </a:r>
            <a:endParaRPr i="1" sz="1203">
              <a:solidFill>
                <a:srgbClr val="3F4247"/>
              </a:solidFill>
              <a:latin typeface="Georgia"/>
              <a:ea typeface="Georgia"/>
              <a:cs typeface="Georgia"/>
              <a:sym typeface="Georgia"/>
            </a:endParaRPr>
          </a:p>
        </p:txBody>
      </p:sp>
      <p:grpSp>
        <p:nvGrpSpPr>
          <p:cNvPr id="224" name="Google Shape;224;p13"/>
          <p:cNvGrpSpPr/>
          <p:nvPr/>
        </p:nvGrpSpPr>
        <p:grpSpPr>
          <a:xfrm>
            <a:off x="457200" y="1333500"/>
            <a:ext cx="3429000" cy="2714700"/>
            <a:chOff x="0" y="0"/>
            <a:chExt cx="3429000" cy="2714700"/>
          </a:xfrm>
        </p:grpSpPr>
        <p:grpSp>
          <p:nvGrpSpPr>
            <p:cNvPr id="225" name="Google Shape;225;p13"/>
            <p:cNvGrpSpPr/>
            <p:nvPr/>
          </p:nvGrpSpPr>
          <p:grpSpPr>
            <a:xfrm>
              <a:off x="0" y="0"/>
              <a:ext cx="3429000" cy="809700"/>
              <a:chOff x="0" y="0"/>
              <a:chExt cx="3429000" cy="809700"/>
            </a:xfrm>
          </p:grpSpPr>
          <p:sp>
            <p:nvSpPr>
              <p:cNvPr id="226" name="Google Shape;226;p13"/>
              <p:cNvSpPr/>
              <p:nvPr/>
            </p:nvSpPr>
            <p:spPr>
              <a:xfrm>
                <a:off x="0" y="0"/>
                <a:ext cx="304800" cy="228600"/>
              </a:xfrm>
              <a:prstGeom prst="roundRect">
                <a:avLst>
                  <a:gd fmla="val 16666" name="adj"/>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3"/>
              <p:cNvSpPr txBox="1"/>
              <p:nvPr/>
            </p:nvSpPr>
            <p:spPr>
              <a:xfrm>
                <a:off x="0" y="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4F1E8"/>
                    </a:solidFill>
                    <a:latin typeface="Consolas"/>
                    <a:ea typeface="Consolas"/>
                    <a:cs typeface="Consolas"/>
                    <a:sym typeface="Consolas"/>
                  </a:rPr>
                  <a:t>01</a:t>
                </a:r>
                <a:endParaRPr b="1" sz="1000">
                  <a:solidFill>
                    <a:srgbClr val="F4F1E8"/>
                  </a:solidFill>
                  <a:latin typeface="Consolas"/>
                  <a:ea typeface="Consolas"/>
                  <a:cs typeface="Consolas"/>
                  <a:sym typeface="Consolas"/>
                </a:endParaRPr>
              </a:p>
            </p:txBody>
          </p:sp>
          <p:sp>
            <p:nvSpPr>
              <p:cNvPr id="228" name="Google Shape;228;p13"/>
              <p:cNvSpPr txBox="1"/>
              <p:nvPr/>
            </p:nvSpPr>
            <p:spPr>
              <a:xfrm>
                <a:off x="419100" y="0"/>
                <a:ext cx="3009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6181C"/>
                    </a:solidFill>
                    <a:latin typeface="Impact"/>
                    <a:ea typeface="Impact"/>
                    <a:cs typeface="Impact"/>
                    <a:sym typeface="Impact"/>
                  </a:rPr>
                  <a:t>NetworkX Correlation</a:t>
                </a:r>
                <a:endParaRPr sz="1300">
                  <a:solidFill>
                    <a:srgbClr val="16181C"/>
                  </a:solidFill>
                  <a:latin typeface="Impact"/>
                  <a:ea typeface="Impact"/>
                  <a:cs typeface="Impact"/>
                  <a:sym typeface="Impact"/>
                </a:endParaRPr>
              </a:p>
              <a:p>
                <a:pPr indent="0" lvl="0" marL="0" rtl="0" algn="l">
                  <a:spcBef>
                    <a:spcPts val="300"/>
                  </a:spcBef>
                  <a:spcAft>
                    <a:spcPts val="0"/>
                  </a:spcAft>
                  <a:buNone/>
                </a:pPr>
                <a:r>
                  <a:rPr lang="en" sz="1050">
                    <a:solidFill>
                      <a:srgbClr val="3F4247"/>
                    </a:solidFill>
                    <a:latin typeface="Georgia"/>
                    <a:ea typeface="Georgia"/>
                    <a:cs typeface="Georgia"/>
                    <a:sym typeface="Georgia"/>
                  </a:rPr>
                  <a:t>Detects crucial east-west lateral movement patterns dynamically across hosts.</a:t>
                </a:r>
                <a:endParaRPr sz="1050">
                  <a:solidFill>
                    <a:srgbClr val="3F4247"/>
                  </a:solidFill>
                  <a:latin typeface="Georgia"/>
                  <a:ea typeface="Georgia"/>
                  <a:cs typeface="Georgia"/>
                  <a:sym typeface="Georgia"/>
                </a:endParaRPr>
              </a:p>
            </p:txBody>
          </p:sp>
        </p:grpSp>
        <p:grpSp>
          <p:nvGrpSpPr>
            <p:cNvPr id="229" name="Google Shape;229;p13"/>
            <p:cNvGrpSpPr/>
            <p:nvPr/>
          </p:nvGrpSpPr>
          <p:grpSpPr>
            <a:xfrm>
              <a:off x="0" y="952500"/>
              <a:ext cx="3429000" cy="809700"/>
              <a:chOff x="0" y="0"/>
              <a:chExt cx="3429000" cy="809700"/>
            </a:xfrm>
          </p:grpSpPr>
          <p:sp>
            <p:nvSpPr>
              <p:cNvPr id="230" name="Google Shape;230;p13"/>
              <p:cNvSpPr/>
              <p:nvPr/>
            </p:nvSpPr>
            <p:spPr>
              <a:xfrm>
                <a:off x="0" y="0"/>
                <a:ext cx="304800" cy="228600"/>
              </a:xfrm>
              <a:prstGeom prst="roundRect">
                <a:avLst>
                  <a:gd fmla="val 16666" name="adj"/>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3"/>
              <p:cNvSpPr txBox="1"/>
              <p:nvPr/>
            </p:nvSpPr>
            <p:spPr>
              <a:xfrm>
                <a:off x="0" y="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4F1E8"/>
                    </a:solidFill>
                    <a:latin typeface="Consolas"/>
                    <a:ea typeface="Consolas"/>
                    <a:cs typeface="Consolas"/>
                    <a:sym typeface="Consolas"/>
                  </a:rPr>
                  <a:t>02</a:t>
                </a:r>
                <a:endParaRPr b="1" sz="1000">
                  <a:solidFill>
                    <a:srgbClr val="F4F1E8"/>
                  </a:solidFill>
                  <a:latin typeface="Consolas"/>
                  <a:ea typeface="Consolas"/>
                  <a:cs typeface="Consolas"/>
                  <a:sym typeface="Consolas"/>
                </a:endParaRPr>
              </a:p>
            </p:txBody>
          </p:sp>
          <p:sp>
            <p:nvSpPr>
              <p:cNvPr id="232" name="Google Shape;232;p13"/>
              <p:cNvSpPr txBox="1"/>
              <p:nvPr/>
            </p:nvSpPr>
            <p:spPr>
              <a:xfrm>
                <a:off x="419100" y="0"/>
                <a:ext cx="3009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6181C"/>
                    </a:solidFill>
                    <a:latin typeface="Impact"/>
                    <a:ea typeface="Impact"/>
                    <a:cs typeface="Impact"/>
                    <a:sym typeface="Impact"/>
                  </a:rPr>
                  <a:t>STIX Relationship Edges</a:t>
                </a:r>
                <a:endParaRPr sz="1300">
                  <a:solidFill>
                    <a:srgbClr val="16181C"/>
                  </a:solidFill>
                  <a:latin typeface="Impact"/>
                  <a:ea typeface="Impact"/>
                  <a:cs typeface="Impact"/>
                  <a:sym typeface="Impact"/>
                </a:endParaRPr>
              </a:p>
              <a:p>
                <a:pPr indent="0" lvl="0" marL="0" rtl="0" algn="l">
                  <a:spcBef>
                    <a:spcPts val="300"/>
                  </a:spcBef>
                  <a:spcAft>
                    <a:spcPts val="0"/>
                  </a:spcAft>
                  <a:buNone/>
                </a:pPr>
                <a:r>
                  <a:rPr lang="en" sz="1050">
                    <a:solidFill>
                      <a:srgbClr val="3F4247"/>
                    </a:solidFill>
                    <a:latin typeface="Georgia"/>
                    <a:ea typeface="Georgia"/>
                    <a:cs typeface="Georgia"/>
                    <a:sym typeface="Georgia"/>
                  </a:rPr>
                  <a:t>Backs network paths with real-world ATT&amp;CK technique relationships.</a:t>
                </a:r>
                <a:endParaRPr sz="1050">
                  <a:solidFill>
                    <a:srgbClr val="3F4247"/>
                  </a:solidFill>
                  <a:latin typeface="Georgia"/>
                  <a:ea typeface="Georgia"/>
                  <a:cs typeface="Georgia"/>
                  <a:sym typeface="Georgia"/>
                </a:endParaRPr>
              </a:p>
            </p:txBody>
          </p:sp>
        </p:grpSp>
        <p:grpSp>
          <p:nvGrpSpPr>
            <p:cNvPr id="233" name="Google Shape;233;p13"/>
            <p:cNvGrpSpPr/>
            <p:nvPr/>
          </p:nvGrpSpPr>
          <p:grpSpPr>
            <a:xfrm>
              <a:off x="0" y="1905000"/>
              <a:ext cx="3429000" cy="809700"/>
              <a:chOff x="0" y="0"/>
              <a:chExt cx="3429000" cy="809700"/>
            </a:xfrm>
          </p:grpSpPr>
          <p:sp>
            <p:nvSpPr>
              <p:cNvPr id="234" name="Google Shape;234;p13"/>
              <p:cNvSpPr/>
              <p:nvPr/>
            </p:nvSpPr>
            <p:spPr>
              <a:xfrm>
                <a:off x="0" y="0"/>
                <a:ext cx="304800" cy="228600"/>
              </a:xfrm>
              <a:prstGeom prst="roundRect">
                <a:avLst>
                  <a:gd fmla="val 16666" name="adj"/>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3"/>
              <p:cNvSpPr txBox="1"/>
              <p:nvPr/>
            </p:nvSpPr>
            <p:spPr>
              <a:xfrm>
                <a:off x="0" y="0"/>
                <a:ext cx="304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4F1E8"/>
                    </a:solidFill>
                    <a:latin typeface="Consolas"/>
                    <a:ea typeface="Consolas"/>
                    <a:cs typeface="Consolas"/>
                    <a:sym typeface="Consolas"/>
                  </a:rPr>
                  <a:t>03</a:t>
                </a:r>
                <a:endParaRPr b="1" sz="1000">
                  <a:solidFill>
                    <a:srgbClr val="F4F1E8"/>
                  </a:solidFill>
                  <a:latin typeface="Consolas"/>
                  <a:ea typeface="Consolas"/>
                  <a:cs typeface="Consolas"/>
                  <a:sym typeface="Consolas"/>
                </a:endParaRPr>
              </a:p>
            </p:txBody>
          </p:sp>
          <p:sp>
            <p:nvSpPr>
              <p:cNvPr id="236" name="Google Shape;236;p13"/>
              <p:cNvSpPr txBox="1"/>
              <p:nvPr/>
            </p:nvSpPr>
            <p:spPr>
              <a:xfrm>
                <a:off x="419100" y="0"/>
                <a:ext cx="3009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6181C"/>
                    </a:solidFill>
                    <a:latin typeface="Impact"/>
                    <a:ea typeface="Impact"/>
                    <a:cs typeface="Impact"/>
                    <a:sym typeface="Impact"/>
                  </a:rPr>
                  <a:t>Live UI Dashboard</a:t>
                </a:r>
                <a:endParaRPr sz="1300">
                  <a:solidFill>
                    <a:srgbClr val="16181C"/>
                  </a:solidFill>
                  <a:latin typeface="Impact"/>
                  <a:ea typeface="Impact"/>
                  <a:cs typeface="Impact"/>
                  <a:sym typeface="Impact"/>
                </a:endParaRPr>
              </a:p>
              <a:p>
                <a:pPr indent="0" lvl="0" marL="0" rtl="0" algn="l">
                  <a:spcBef>
                    <a:spcPts val="300"/>
                  </a:spcBef>
                  <a:spcAft>
                    <a:spcPts val="0"/>
                  </a:spcAft>
                  <a:buNone/>
                </a:pPr>
                <a:r>
                  <a:rPr lang="en" sz="1050">
                    <a:solidFill>
                      <a:srgbClr val="3F4247"/>
                    </a:solidFill>
                    <a:latin typeface="Georgia"/>
                    <a:ea typeface="Georgia"/>
                    <a:cs typeface="Georgia"/>
                    <a:sym typeface="Georgia"/>
                  </a:rPr>
                  <a:t>Renders the entire correlation map in real-time directly on the analyst's screen.</a:t>
                </a:r>
                <a:endParaRPr sz="1050">
                  <a:solidFill>
                    <a:srgbClr val="3F4247"/>
                  </a:solidFill>
                  <a:latin typeface="Georgia"/>
                  <a:ea typeface="Georgia"/>
                  <a:cs typeface="Georgia"/>
                  <a:sym typeface="Georgia"/>
                </a:endParaRPr>
              </a:p>
            </p:txBody>
          </p:sp>
        </p:grpSp>
      </p:grpSp>
      <p:grpSp>
        <p:nvGrpSpPr>
          <p:cNvPr id="237" name="Google Shape;237;p13"/>
          <p:cNvGrpSpPr/>
          <p:nvPr/>
        </p:nvGrpSpPr>
        <p:grpSpPr>
          <a:xfrm>
            <a:off x="4286250" y="1333500"/>
            <a:ext cx="4400700" cy="2857500"/>
            <a:chOff x="0" y="0"/>
            <a:chExt cx="4400700" cy="2857500"/>
          </a:xfrm>
        </p:grpSpPr>
        <p:sp>
          <p:nvSpPr>
            <p:cNvPr id="238" name="Google Shape;238;p13"/>
            <p:cNvSpPr/>
            <p:nvPr/>
          </p:nvSpPr>
          <p:spPr>
            <a:xfrm>
              <a:off x="0" y="0"/>
              <a:ext cx="4400700" cy="2857500"/>
            </a:xfrm>
            <a:prstGeom prst="rect">
              <a:avLst/>
            </a:pr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3"/>
            <p:cNvSpPr/>
            <p:nvPr/>
          </p:nvSpPr>
          <p:spPr>
            <a:xfrm>
              <a:off x="76200" y="76200"/>
              <a:ext cx="4248300" cy="2057400"/>
            </a:xfrm>
            <a:prstGeom prst="rect">
              <a:avLst/>
            </a:prstGeom>
            <a:solidFill>
              <a:srgbClr val="1618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0" name="Google Shape;240;p13"/>
            <p:cNvPicPr preferRelativeResize="0"/>
            <p:nvPr/>
          </p:nvPicPr>
          <p:blipFill rotWithShape="1">
            <a:blip r:embed="rId3">
              <a:alphaModFix/>
            </a:blip>
            <a:srcRect b="30" l="0" r="0" t="30"/>
            <a:stretch/>
          </p:blipFill>
          <p:spPr>
            <a:xfrm>
              <a:off x="76200" y="76200"/>
              <a:ext cx="4248300" cy="2057400"/>
            </a:xfrm>
            <a:prstGeom prst="rect">
              <a:avLst/>
            </a:prstGeom>
            <a:noFill/>
            <a:ln>
              <a:noFill/>
            </a:ln>
          </p:spPr>
        </p:pic>
        <p:sp>
          <p:nvSpPr>
            <p:cNvPr id="241" name="Google Shape;241;p13"/>
            <p:cNvSpPr/>
            <p:nvPr/>
          </p:nvSpPr>
          <p:spPr>
            <a:xfrm>
              <a:off x="76200" y="2209800"/>
              <a:ext cx="4248300" cy="571500"/>
            </a:xfrm>
            <a:prstGeom prst="rect">
              <a:avLst/>
            </a:prstGeom>
            <a:solidFill>
              <a:srgbClr val="E8E3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3"/>
            <p:cNvSpPr txBox="1"/>
            <p:nvPr/>
          </p:nvSpPr>
          <p:spPr>
            <a:xfrm>
              <a:off x="190500" y="2209800"/>
              <a:ext cx="40197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6181C"/>
                  </a:solidFill>
                  <a:latin typeface="Consolas"/>
                  <a:ea typeface="Consolas"/>
                  <a:cs typeface="Consolas"/>
                  <a:sym typeface="Consolas"/>
                </a:rPr>
                <a:t>REAL-TIME CORRELATION VIEW</a:t>
              </a:r>
              <a:endParaRPr b="1" sz="1000">
                <a:solidFill>
                  <a:srgbClr val="16181C"/>
                </a:solidFill>
                <a:latin typeface="Consolas"/>
                <a:ea typeface="Consolas"/>
                <a:cs typeface="Consolas"/>
                <a:sym typeface="Consolas"/>
              </a:endParaRPr>
            </a:p>
            <a:p>
              <a:pPr indent="0" lvl="0" marL="0" rtl="0" algn="l">
                <a:spcBef>
                  <a:spcPts val="150"/>
                </a:spcBef>
                <a:spcAft>
                  <a:spcPts val="0"/>
                </a:spcAft>
                <a:buNone/>
              </a:pPr>
              <a:r>
                <a:rPr i="1" lang="en" sz="850">
                  <a:solidFill>
                    <a:srgbClr val="6B6E73"/>
                  </a:solidFill>
                  <a:latin typeface="Georgia"/>
                  <a:ea typeface="Georgia"/>
                  <a:cs typeface="Georgia"/>
                  <a:sym typeface="Georgia"/>
                </a:rPr>
                <a:t>Interactive attack paths and east-west movement visualization.</a:t>
              </a:r>
              <a:endParaRPr i="1" sz="850">
                <a:solidFill>
                  <a:srgbClr val="6B6E73"/>
                </a:solidFill>
                <a:latin typeface="Georgia"/>
                <a:ea typeface="Georgia"/>
                <a:cs typeface="Georgia"/>
                <a:sym typeface="Georgia"/>
              </a:endParaRPr>
            </a:p>
          </p:txBody>
        </p:sp>
      </p:grpSp>
      <p:sp>
        <p:nvSpPr>
          <p:cNvPr id="243" name="Google Shape;243;p13"/>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244" name="Google Shape;244;p13"/>
          <p:cNvSpPr txBox="1"/>
          <p:nvPr/>
        </p:nvSpPr>
        <p:spPr>
          <a:xfrm>
            <a:off x="452057" y="4891326"/>
            <a:ext cx="326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accent5"/>
                </a:solidFill>
                <a:latin typeface="Consolas"/>
                <a:ea typeface="Consolas"/>
                <a:cs typeface="Consolas"/>
                <a:sym typeface="Consolas"/>
              </a:rPr>
              <a:t>ATTACK-PATH / LATERAL-MOVEMENT GRAPH</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4"/>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250" name="Google Shape;250;p14"/>
          <p:cNvSpPr txBox="1"/>
          <p:nvPr/>
        </p:nvSpPr>
        <p:spPr>
          <a:xfrm>
            <a:off x="442913" y="88582"/>
            <a:ext cx="80577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Four things a dashboard alone can't do</a:t>
            </a:r>
            <a:endParaRPr sz="1100"/>
          </a:p>
        </p:txBody>
      </p:sp>
      <p:sp>
        <p:nvSpPr>
          <p:cNvPr id="251" name="Google Shape;251;p14"/>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10</a:t>
            </a:r>
            <a:endParaRPr sz="1100"/>
          </a:p>
        </p:txBody>
      </p:sp>
      <p:sp>
        <p:nvSpPr>
          <p:cNvPr id="252" name="Google Shape;252;p14"/>
          <p:cNvSpPr txBox="1"/>
          <p:nvPr/>
        </p:nvSpPr>
        <p:spPr>
          <a:xfrm>
            <a:off x="450342" y="568643"/>
            <a:ext cx="8891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 sz="1400">
                <a:solidFill>
                  <a:schemeClr val="dk2"/>
                </a:solidFill>
                <a:latin typeface="Georgia"/>
                <a:ea typeface="Georgia"/>
                <a:cs typeface="Georgia"/>
                <a:sym typeface="Georgia"/>
              </a:rPr>
              <a:t>The differentiator is the reasoning + citation + auto-containment layer, not the model itself.</a:t>
            </a:r>
            <a:endParaRPr sz="1100"/>
          </a:p>
        </p:txBody>
      </p:sp>
      <p:grpSp>
        <p:nvGrpSpPr>
          <p:cNvPr id="253" name="Google Shape;253;p14"/>
          <p:cNvGrpSpPr/>
          <p:nvPr/>
        </p:nvGrpSpPr>
        <p:grpSpPr>
          <a:xfrm>
            <a:off x="457200" y="1190625"/>
            <a:ext cx="1866900" cy="2952900"/>
            <a:chOff x="0" y="0"/>
            <a:chExt cx="1866900" cy="2952900"/>
          </a:xfrm>
        </p:grpSpPr>
        <p:sp>
          <p:nvSpPr>
            <p:cNvPr id="254" name="Google Shape;254;p14"/>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4"/>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16181C"/>
                  </a:solidFill>
                  <a:latin typeface="Material Icons"/>
                  <a:ea typeface="Material Icons"/>
                  <a:cs typeface="Material Icons"/>
                  <a:sym typeface="Material Icons"/>
                </a:rPr>
                <a:t>report</a:t>
              </a:r>
              <a:r>
                <a:rPr b="1" lang="en" sz="1800">
                  <a:solidFill>
                    <a:srgbClr val="6B6E73"/>
                  </a:solidFill>
                  <a:latin typeface="Consolas"/>
                  <a:ea typeface="Consolas"/>
                  <a:cs typeface="Consolas"/>
                  <a:sym typeface="Consolas"/>
                </a:rPr>
                <a:t>01</a:t>
              </a:r>
              <a:endParaRPr/>
            </a:p>
            <a:p>
              <a:pPr indent="0" lvl="0" marL="0" rtl="0" algn="l">
                <a:spcBef>
                  <a:spcPts val="0"/>
                </a:spcBef>
                <a:spcAft>
                  <a:spcPts val="0"/>
                </a:spcAft>
                <a:buNone/>
              </a:pPr>
              <a:r>
                <a:rPr lang="en" sz="1400">
                  <a:solidFill>
                    <a:srgbClr val="16181C"/>
                  </a:solidFill>
                  <a:latin typeface="Impact"/>
                  <a:ea typeface="Impact"/>
                  <a:cs typeface="Impact"/>
                  <a:sym typeface="Impact"/>
                </a:rPr>
                <a:t>No signatures</a:t>
              </a:r>
              <a:endParaRPr sz="1400">
                <a:solidFill>
                  <a:srgbClr val="16181C"/>
                </a:solidFill>
                <a:latin typeface="Impact"/>
                <a:ea typeface="Impact"/>
                <a:cs typeface="Impact"/>
                <a:sym typeface="Impact"/>
              </a:endParaRPr>
            </a:p>
            <a:p>
              <a:pPr indent="0" lvl="0" marL="0" rtl="0" algn="l">
                <a:spcBef>
                  <a:spcPts val="900"/>
                </a:spcBef>
                <a:spcAft>
                  <a:spcPts val="0"/>
                </a:spcAft>
                <a:buNone/>
              </a:pPr>
              <a:r>
                <a:rPr i="1" lang="en" sz="1100">
                  <a:solidFill>
                    <a:srgbClr val="3F4247"/>
                  </a:solidFill>
                  <a:latin typeface="Georgia"/>
                  <a:ea typeface="Georgia"/>
                  <a:cs typeface="Georgia"/>
                  <a:sym typeface="Georgia"/>
                </a:rPr>
                <a:t>Flags deviation, not a known pattern.</a:t>
              </a:r>
              <a:endParaRPr i="1" sz="1100">
                <a:solidFill>
                  <a:srgbClr val="3F4247"/>
                </a:solidFill>
                <a:latin typeface="Georgia"/>
                <a:ea typeface="Georgia"/>
                <a:cs typeface="Georgia"/>
                <a:sym typeface="Georgia"/>
              </a:endParaRPr>
            </a:p>
          </p:txBody>
        </p:sp>
      </p:grpSp>
      <p:grpSp>
        <p:nvGrpSpPr>
          <p:cNvPr id="256" name="Google Shape;256;p14"/>
          <p:cNvGrpSpPr/>
          <p:nvPr/>
        </p:nvGrpSpPr>
        <p:grpSpPr>
          <a:xfrm>
            <a:off x="2514600" y="1190625"/>
            <a:ext cx="1866900" cy="2952900"/>
            <a:chOff x="0" y="0"/>
            <a:chExt cx="1866900" cy="2952900"/>
          </a:xfrm>
        </p:grpSpPr>
        <p:sp>
          <p:nvSpPr>
            <p:cNvPr id="257" name="Google Shape;257;p14"/>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4"/>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16181C"/>
                  </a:solidFill>
                  <a:latin typeface="Material Icons"/>
                  <a:ea typeface="Material Icons"/>
                  <a:cs typeface="Material Icons"/>
                  <a:sym typeface="Material Icons"/>
                </a:rPr>
                <a:t>search</a:t>
              </a:r>
              <a:r>
                <a:rPr b="1" lang="en" sz="1800">
                  <a:solidFill>
                    <a:srgbClr val="6B6E73"/>
                  </a:solidFill>
                  <a:latin typeface="Consolas"/>
                  <a:ea typeface="Consolas"/>
                  <a:cs typeface="Consolas"/>
                  <a:sym typeface="Consolas"/>
                </a:rPr>
                <a:t>02</a:t>
              </a:r>
              <a:endParaRPr/>
            </a:p>
            <a:p>
              <a:pPr indent="0" lvl="0" marL="0" rtl="0" algn="l">
                <a:spcBef>
                  <a:spcPts val="0"/>
                </a:spcBef>
                <a:spcAft>
                  <a:spcPts val="0"/>
                </a:spcAft>
                <a:buNone/>
              </a:pPr>
              <a:r>
                <a:rPr lang="en" sz="1400">
                  <a:solidFill>
                    <a:srgbClr val="16181C"/>
                  </a:solidFill>
                  <a:latin typeface="Impact"/>
                  <a:ea typeface="Impact"/>
                  <a:cs typeface="Impact"/>
                  <a:sym typeface="Impact"/>
                </a:rPr>
                <a:t>Retrieve-then-cite</a:t>
              </a:r>
              <a:endParaRPr sz="1400">
                <a:solidFill>
                  <a:srgbClr val="16181C"/>
                </a:solidFill>
                <a:latin typeface="Impact"/>
                <a:ea typeface="Impact"/>
                <a:cs typeface="Impact"/>
                <a:sym typeface="Impact"/>
              </a:endParaRPr>
            </a:p>
            <a:p>
              <a:pPr indent="0" lvl="0" marL="0" rtl="0" algn="l">
                <a:spcBef>
                  <a:spcPts val="900"/>
                </a:spcBef>
                <a:spcAft>
                  <a:spcPts val="0"/>
                </a:spcAft>
                <a:buNone/>
              </a:pPr>
              <a:r>
                <a:rPr i="1" lang="en" sz="1100">
                  <a:solidFill>
                    <a:srgbClr val="3F4247"/>
                  </a:solidFill>
                  <a:latin typeface="Georgia"/>
                  <a:ea typeface="Georgia"/>
                  <a:cs typeface="Georgia"/>
                  <a:sym typeface="Georgia"/>
                </a:rPr>
                <a:t>Never a confident guess on a technique ID.</a:t>
              </a:r>
              <a:endParaRPr i="1" sz="1100">
                <a:solidFill>
                  <a:srgbClr val="3F4247"/>
                </a:solidFill>
                <a:latin typeface="Georgia"/>
                <a:ea typeface="Georgia"/>
                <a:cs typeface="Georgia"/>
                <a:sym typeface="Georgia"/>
              </a:endParaRPr>
            </a:p>
          </p:txBody>
        </p:sp>
      </p:grpSp>
      <p:grpSp>
        <p:nvGrpSpPr>
          <p:cNvPr id="259" name="Google Shape;259;p14"/>
          <p:cNvGrpSpPr/>
          <p:nvPr/>
        </p:nvGrpSpPr>
        <p:grpSpPr>
          <a:xfrm>
            <a:off x="4572000" y="1190625"/>
            <a:ext cx="1866900" cy="2952900"/>
            <a:chOff x="0" y="0"/>
            <a:chExt cx="1866900" cy="2952900"/>
          </a:xfrm>
        </p:grpSpPr>
        <p:sp>
          <p:nvSpPr>
            <p:cNvPr id="260" name="Google Shape;260;p14"/>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4"/>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16181C"/>
                  </a:solidFill>
                  <a:latin typeface="Material Icons"/>
                  <a:ea typeface="Material Icons"/>
                  <a:cs typeface="Material Icons"/>
                  <a:sym typeface="Material Icons"/>
                </a:rPr>
                <a:t>gavel</a:t>
              </a:r>
              <a:r>
                <a:rPr b="1" lang="en" sz="1800">
                  <a:solidFill>
                    <a:srgbClr val="6B6E73"/>
                  </a:solidFill>
                  <a:latin typeface="Consolas"/>
                  <a:ea typeface="Consolas"/>
                  <a:cs typeface="Consolas"/>
                  <a:sym typeface="Consolas"/>
                </a:rPr>
                <a:t>03</a:t>
              </a:r>
              <a:endParaRPr/>
            </a:p>
            <a:p>
              <a:pPr indent="0" lvl="0" marL="0" rtl="0" algn="l">
                <a:spcBef>
                  <a:spcPts val="0"/>
                </a:spcBef>
                <a:spcAft>
                  <a:spcPts val="0"/>
                </a:spcAft>
                <a:buNone/>
              </a:pPr>
              <a:r>
                <a:rPr lang="en" sz="1400">
                  <a:solidFill>
                    <a:srgbClr val="16181C"/>
                  </a:solidFill>
                  <a:latin typeface="Impact"/>
                  <a:ea typeface="Impact"/>
                  <a:cs typeface="Impact"/>
                  <a:sym typeface="Impact"/>
                </a:rPr>
                <a:t>Policy decides</a:t>
              </a:r>
              <a:endParaRPr sz="1400">
                <a:solidFill>
                  <a:srgbClr val="16181C"/>
                </a:solidFill>
                <a:latin typeface="Impact"/>
                <a:ea typeface="Impact"/>
                <a:cs typeface="Impact"/>
                <a:sym typeface="Impact"/>
              </a:endParaRPr>
            </a:p>
            <a:p>
              <a:pPr indent="0" lvl="0" marL="0" rtl="0" algn="l">
                <a:spcBef>
                  <a:spcPts val="900"/>
                </a:spcBef>
                <a:spcAft>
                  <a:spcPts val="0"/>
                </a:spcAft>
                <a:buNone/>
              </a:pPr>
              <a:r>
                <a:rPr i="1" lang="en" sz="1100">
                  <a:solidFill>
                    <a:srgbClr val="3F4247"/>
                  </a:solidFill>
                  <a:latin typeface="Georgia"/>
                  <a:ea typeface="Georgia"/>
                  <a:cs typeface="Georgia"/>
                  <a:sym typeface="Georgia"/>
                </a:rPr>
                <a:t>The agent's suggestion is advisory only.</a:t>
              </a:r>
              <a:endParaRPr i="1" sz="1100">
                <a:solidFill>
                  <a:srgbClr val="3F4247"/>
                </a:solidFill>
                <a:latin typeface="Georgia"/>
                <a:ea typeface="Georgia"/>
                <a:cs typeface="Georgia"/>
                <a:sym typeface="Georgia"/>
              </a:endParaRPr>
            </a:p>
          </p:txBody>
        </p:sp>
      </p:grpSp>
      <p:grpSp>
        <p:nvGrpSpPr>
          <p:cNvPr id="262" name="Google Shape;262;p14"/>
          <p:cNvGrpSpPr/>
          <p:nvPr/>
        </p:nvGrpSpPr>
        <p:grpSpPr>
          <a:xfrm>
            <a:off x="6629400" y="1190625"/>
            <a:ext cx="1866900" cy="2952900"/>
            <a:chOff x="0" y="0"/>
            <a:chExt cx="1866900" cy="2952900"/>
          </a:xfrm>
        </p:grpSpPr>
        <p:sp>
          <p:nvSpPr>
            <p:cNvPr id="263" name="Google Shape;263;p14"/>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4"/>
            <p:cNvSpPr/>
            <p:nvPr/>
          </p:nvSpPr>
          <p:spPr>
            <a:xfrm>
              <a:off x="0" y="0"/>
              <a:ext cx="57300" cy="29529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14"/>
            <p:cNvSpPr txBox="1"/>
            <p:nvPr/>
          </p:nvSpPr>
          <p:spPr>
            <a:xfrm>
              <a:off x="0" y="0"/>
              <a:ext cx="1866900" cy="2952900"/>
            </a:xfrm>
            <a:prstGeom prst="rect">
              <a:avLst/>
            </a:prstGeom>
            <a:noFill/>
            <a:ln>
              <a:noFill/>
            </a:ln>
          </p:spPr>
          <p:txBody>
            <a:bodyPr anchorCtr="0" anchor="ctr" bIns="190500" lIns="228600" spcFirstLastPara="1" rIns="190500" wrap="square" tIns="190500">
              <a:noAutofit/>
            </a:bodyPr>
            <a:lstStyle/>
            <a:p>
              <a:pPr indent="0" lvl="0" marL="0" rtl="0" algn="l">
                <a:spcBef>
                  <a:spcPts val="0"/>
                </a:spcBef>
                <a:spcAft>
                  <a:spcPts val="0"/>
                </a:spcAft>
                <a:buNone/>
              </a:pPr>
              <a:r>
                <a:rPr lang="en" sz="2400">
                  <a:solidFill>
                    <a:srgbClr val="B3261E"/>
                  </a:solidFill>
                  <a:latin typeface="Material Icons"/>
                  <a:ea typeface="Material Icons"/>
                  <a:cs typeface="Material Icons"/>
                  <a:sym typeface="Material Icons"/>
                </a:rPr>
                <a:t>lock</a:t>
              </a:r>
              <a:r>
                <a:rPr b="1" lang="en" sz="1800">
                  <a:solidFill>
                    <a:srgbClr val="B3261E"/>
                  </a:solidFill>
                  <a:latin typeface="Consolas"/>
                  <a:ea typeface="Consolas"/>
                  <a:cs typeface="Consolas"/>
                  <a:sym typeface="Consolas"/>
                </a:rPr>
                <a:t>04</a:t>
              </a:r>
              <a:endParaRPr/>
            </a:p>
            <a:p>
              <a:pPr indent="0" lvl="0" marL="0" rtl="0" algn="l">
                <a:spcBef>
                  <a:spcPts val="0"/>
                </a:spcBef>
                <a:spcAft>
                  <a:spcPts val="0"/>
                </a:spcAft>
                <a:buNone/>
              </a:pPr>
              <a:r>
                <a:rPr lang="en" sz="1400">
                  <a:solidFill>
                    <a:srgbClr val="B3261E"/>
                  </a:solidFill>
                  <a:latin typeface="Impact"/>
                  <a:ea typeface="Impact"/>
                  <a:cs typeface="Impact"/>
                  <a:sym typeface="Impact"/>
                </a:rPr>
                <a:t>Human loop</a:t>
              </a:r>
              <a:endParaRPr sz="1400">
                <a:solidFill>
                  <a:srgbClr val="B3261E"/>
                </a:solidFill>
                <a:latin typeface="Impact"/>
                <a:ea typeface="Impact"/>
                <a:cs typeface="Impact"/>
                <a:sym typeface="Impact"/>
              </a:endParaRPr>
            </a:p>
            <a:p>
              <a:pPr indent="0" lvl="0" marL="0" rtl="0" algn="l">
                <a:spcBef>
                  <a:spcPts val="900"/>
                </a:spcBef>
                <a:spcAft>
                  <a:spcPts val="0"/>
                </a:spcAft>
                <a:buNone/>
              </a:pPr>
              <a:r>
                <a:rPr i="1" lang="en" sz="1100">
                  <a:solidFill>
                    <a:srgbClr val="3F4247"/>
                  </a:solidFill>
                  <a:latin typeface="Georgia"/>
                  <a:ea typeface="Georgia"/>
                  <a:cs typeface="Georgia"/>
                  <a:sym typeface="Georgia"/>
                </a:rPr>
                <a:t>High-impact actions wait for approval — required, not optional.</a:t>
              </a:r>
              <a:endParaRPr i="1" sz="1100">
                <a:solidFill>
                  <a:srgbClr val="3F4247"/>
                </a:solidFill>
                <a:latin typeface="Georgia"/>
                <a:ea typeface="Georgia"/>
                <a:cs typeface="Georgia"/>
                <a:sym typeface="Georgia"/>
              </a:endParaRPr>
            </a:p>
          </p:txBody>
        </p:sp>
      </p:grpSp>
      <p:sp>
        <p:nvSpPr>
          <p:cNvPr id="266" name="Google Shape;266;p14"/>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267" name="Google Shape;267;p14"/>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5"/>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273" name="Google Shape;273;p15"/>
          <p:cNvSpPr txBox="1"/>
          <p:nvPr/>
        </p:nvSpPr>
        <p:spPr>
          <a:xfrm>
            <a:off x="442913" y="88582"/>
            <a:ext cx="6990912" cy="6143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Three contracts. Nothing drifts.</a:t>
            </a:r>
            <a:endParaRPr sz="1100"/>
          </a:p>
        </p:txBody>
      </p:sp>
      <p:sp>
        <p:nvSpPr>
          <p:cNvPr id="274" name="Google Shape;274;p15"/>
          <p:cNvSpPr txBox="1"/>
          <p:nvPr/>
        </p:nvSpPr>
        <p:spPr>
          <a:xfrm>
            <a:off x="8531723" y="319326"/>
            <a:ext cx="160220" cy="19802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11</a:t>
            </a:r>
            <a:endParaRPr sz="1100"/>
          </a:p>
        </p:txBody>
      </p:sp>
      <p:sp>
        <p:nvSpPr>
          <p:cNvPr id="275" name="Google Shape;275;p15"/>
          <p:cNvSpPr txBox="1"/>
          <p:nvPr/>
        </p:nvSpPr>
        <p:spPr>
          <a:xfrm>
            <a:off x="450342" y="568642"/>
            <a:ext cx="8797217" cy="26403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 sz="1400">
                <a:solidFill>
                  <a:schemeClr val="dk2"/>
                </a:solidFill>
                <a:latin typeface="Georgia"/>
                <a:ea typeface="Georgia"/>
                <a:cs typeface="Georgia"/>
                <a:sym typeface="Georgia"/>
              </a:rPr>
              <a:t>Three frozen JSON contracts, mirrored as Pydantic models — the seam every pillar imports.</a:t>
            </a:r>
            <a:endParaRPr sz="1100"/>
          </a:p>
        </p:txBody>
      </p:sp>
      <p:sp>
        <p:nvSpPr>
          <p:cNvPr id="276" name="Google Shape;276;p15"/>
          <p:cNvSpPr/>
          <p:nvPr/>
        </p:nvSpPr>
        <p:spPr>
          <a:xfrm>
            <a:off x="457200" y="1000125"/>
            <a:ext cx="2628900" cy="3429000"/>
          </a:xfrm>
          <a:prstGeom prst="rect">
            <a:avLst/>
          </a:prstGeom>
          <a:noFill/>
          <a:ln cap="flat" cmpd="sng" w="19050">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15"/>
          <p:cNvSpPr/>
          <p:nvPr/>
        </p:nvSpPr>
        <p:spPr>
          <a:xfrm>
            <a:off x="457200" y="1000125"/>
            <a:ext cx="2628900" cy="342900"/>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15"/>
          <p:cNvSpPr/>
          <p:nvPr/>
        </p:nvSpPr>
        <p:spPr>
          <a:xfrm>
            <a:off x="582521" y="1096886"/>
            <a:ext cx="146141" cy="146127"/>
          </a:xfrm>
          <a:custGeom>
            <a:rect b="b" l="l" r="r" t="t"/>
            <a:pathLst>
              <a:path extrusionOk="0" h="194836" w="194855">
                <a:moveTo>
                  <a:pt x="99605" y="80536"/>
                </a:moveTo>
                <a:cubicBezTo>
                  <a:pt x="106058" y="80535"/>
                  <a:pt x="112074" y="83800"/>
                  <a:pt x="115588" y="89213"/>
                </a:cubicBezTo>
                <a:lnTo>
                  <a:pt x="116093" y="90061"/>
                </a:lnTo>
                <a:lnTo>
                  <a:pt x="185330" y="90061"/>
                </a:lnTo>
                <a:lnTo>
                  <a:pt x="186444" y="90128"/>
                </a:lnTo>
                <a:cubicBezTo>
                  <a:pt x="191240" y="90693"/>
                  <a:pt x="194854" y="94757"/>
                  <a:pt x="194855" y="99586"/>
                </a:cubicBezTo>
                <a:cubicBezTo>
                  <a:pt x="194855" y="152193"/>
                  <a:pt x="152211" y="194836"/>
                  <a:pt x="99605" y="194836"/>
                </a:cubicBezTo>
                <a:cubicBezTo>
                  <a:pt x="94344" y="194836"/>
                  <a:pt x="90080" y="190572"/>
                  <a:pt x="90080" y="185311"/>
                </a:cubicBezTo>
                <a:lnTo>
                  <a:pt x="90080" y="116074"/>
                </a:lnTo>
                <a:lnTo>
                  <a:pt x="89232" y="115569"/>
                </a:lnTo>
                <a:cubicBezTo>
                  <a:pt x="84238" y="112329"/>
                  <a:pt x="81046" y="106942"/>
                  <a:pt x="80603" y="101005"/>
                </a:cubicBezTo>
                <a:lnTo>
                  <a:pt x="80555" y="99586"/>
                </a:lnTo>
                <a:cubicBezTo>
                  <a:pt x="80555" y="89065"/>
                  <a:pt x="89084" y="80536"/>
                  <a:pt x="99605" y="80536"/>
                </a:cubicBezTo>
                <a:moveTo>
                  <a:pt x="189407" y="67830"/>
                </a:moveTo>
                <a:cubicBezTo>
                  <a:pt x="190964" y="72727"/>
                  <a:pt x="188356" y="77976"/>
                  <a:pt x="183512" y="79693"/>
                </a:cubicBezTo>
                <a:cubicBezTo>
                  <a:pt x="178669" y="81411"/>
                  <a:pt x="173337" y="78977"/>
                  <a:pt x="171461" y="74192"/>
                </a:cubicBezTo>
                <a:cubicBezTo>
                  <a:pt x="159595" y="40759"/>
                  <a:pt x="126225" y="19938"/>
                  <a:pt x="90979" y="23976"/>
                </a:cubicBezTo>
                <a:cubicBezTo>
                  <a:pt x="55733" y="28013"/>
                  <a:pt x="27936" y="55840"/>
                  <a:pt x="23936" y="91091"/>
                </a:cubicBezTo>
                <a:cubicBezTo>
                  <a:pt x="19937" y="126341"/>
                  <a:pt x="40794" y="159688"/>
                  <a:pt x="74240" y="171519"/>
                </a:cubicBezTo>
                <a:cubicBezTo>
                  <a:pt x="79200" y="173271"/>
                  <a:pt x="81802" y="178712"/>
                  <a:pt x="80050" y="183673"/>
                </a:cubicBezTo>
                <a:cubicBezTo>
                  <a:pt x="78298" y="188633"/>
                  <a:pt x="72857" y="191235"/>
                  <a:pt x="67896" y="189483"/>
                </a:cubicBezTo>
                <a:cubicBezTo>
                  <a:pt x="26081" y="174703"/>
                  <a:pt x="0" y="133019"/>
                  <a:pt x="4995" y="88951"/>
                </a:cubicBezTo>
                <a:cubicBezTo>
                  <a:pt x="9990" y="44883"/>
                  <a:pt x="44738" y="10093"/>
                  <a:pt x="88800" y="5047"/>
                </a:cubicBezTo>
                <a:cubicBezTo>
                  <a:pt x="132863" y="0"/>
                  <a:pt x="174577" y="26032"/>
                  <a:pt x="189407" y="67830"/>
                </a:cubicBezTo>
                <a:moveTo>
                  <a:pt x="145325" y="65296"/>
                </a:moveTo>
                <a:cubicBezTo>
                  <a:pt x="148481" y="69505"/>
                  <a:pt x="147628" y="75475"/>
                  <a:pt x="143420" y="78631"/>
                </a:cubicBezTo>
                <a:cubicBezTo>
                  <a:pt x="139211" y="81787"/>
                  <a:pt x="133241" y="80935"/>
                  <a:pt x="130085" y="76726"/>
                </a:cubicBezTo>
                <a:cubicBezTo>
                  <a:pt x="121140" y="64800"/>
                  <a:pt x="106061" y="59186"/>
                  <a:pt x="91495" y="62359"/>
                </a:cubicBezTo>
                <a:cubicBezTo>
                  <a:pt x="76929" y="65533"/>
                  <a:pt x="65551" y="76910"/>
                  <a:pt x="62378" y="91476"/>
                </a:cubicBezTo>
                <a:cubicBezTo>
                  <a:pt x="59205" y="106042"/>
                  <a:pt x="64819" y="121121"/>
                  <a:pt x="76745" y="130066"/>
                </a:cubicBezTo>
                <a:cubicBezTo>
                  <a:pt x="80953" y="133222"/>
                  <a:pt x="81806" y="139193"/>
                  <a:pt x="78650" y="143401"/>
                </a:cubicBezTo>
                <a:cubicBezTo>
                  <a:pt x="75494" y="147610"/>
                  <a:pt x="69523" y="148462"/>
                  <a:pt x="65315" y="145306"/>
                </a:cubicBezTo>
                <a:cubicBezTo>
                  <a:pt x="47425" y="131889"/>
                  <a:pt x="39005" y="109271"/>
                  <a:pt x="43765" y="87421"/>
                </a:cubicBezTo>
                <a:cubicBezTo>
                  <a:pt x="48525" y="65572"/>
                  <a:pt x="65591" y="48506"/>
                  <a:pt x="87440" y="43746"/>
                </a:cubicBezTo>
                <a:cubicBezTo>
                  <a:pt x="109289" y="38986"/>
                  <a:pt x="131908" y="47407"/>
                  <a:pt x="145325" y="65296"/>
                </a:cubicBezTo>
              </a:path>
            </a:pathLst>
          </a:cu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15"/>
          <p:cNvSpPr txBox="1"/>
          <p:nvPr/>
        </p:nvSpPr>
        <p:spPr>
          <a:xfrm>
            <a:off x="794385" y="1107281"/>
            <a:ext cx="1058633" cy="2200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100">
                <a:solidFill>
                  <a:srgbClr val="F4F1E8"/>
                </a:solidFill>
                <a:latin typeface="Impact"/>
                <a:ea typeface="Impact"/>
                <a:cs typeface="Impact"/>
                <a:sym typeface="Impact"/>
              </a:rPr>
              <a:t>Anomaly Event</a:t>
            </a:r>
            <a:endParaRPr sz="1100"/>
          </a:p>
        </p:txBody>
      </p:sp>
      <p:sp>
        <p:nvSpPr>
          <p:cNvPr id="280" name="Google Shape;280;p15"/>
          <p:cNvSpPr txBox="1"/>
          <p:nvPr/>
        </p:nvSpPr>
        <p:spPr>
          <a:xfrm>
            <a:off x="594932" y="1476614"/>
            <a:ext cx="604226"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event_id</a:t>
            </a:r>
            <a:endParaRPr sz="1100"/>
          </a:p>
        </p:txBody>
      </p:sp>
      <p:sp>
        <p:nvSpPr>
          <p:cNvPr id="281" name="Google Shape;281;p15"/>
          <p:cNvSpPr txBox="1"/>
          <p:nvPr/>
        </p:nvSpPr>
        <p:spPr>
          <a:xfrm>
            <a:off x="594932" y="1733789"/>
            <a:ext cx="802386"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"evt_0001"</a:t>
            </a:r>
            <a:endParaRPr sz="1100"/>
          </a:p>
        </p:txBody>
      </p:sp>
      <p:sp>
        <p:nvSpPr>
          <p:cNvPr id="282" name="Google Shape;282;p15"/>
          <p:cNvSpPr txBox="1"/>
          <p:nvPr/>
        </p:nvSpPr>
        <p:spPr>
          <a:xfrm>
            <a:off x="594932" y="2048114"/>
            <a:ext cx="1026424"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anomaly_score</a:t>
            </a:r>
            <a:endParaRPr sz="1100"/>
          </a:p>
        </p:txBody>
      </p:sp>
      <p:sp>
        <p:nvSpPr>
          <p:cNvPr id="283" name="Google Shape;283;p15"/>
          <p:cNvSpPr txBox="1"/>
          <p:nvPr/>
        </p:nvSpPr>
        <p:spPr>
          <a:xfrm>
            <a:off x="594932" y="2305289"/>
            <a:ext cx="1565681"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0.93 — threshold-free</a:t>
            </a:r>
            <a:endParaRPr sz="1100"/>
          </a:p>
        </p:txBody>
      </p:sp>
      <p:sp>
        <p:nvSpPr>
          <p:cNvPr id="284" name="Google Shape;284;p15"/>
          <p:cNvSpPr txBox="1"/>
          <p:nvPr/>
        </p:nvSpPr>
        <p:spPr>
          <a:xfrm>
            <a:off x="594932" y="2619614"/>
            <a:ext cx="95486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top_features</a:t>
            </a:r>
            <a:endParaRPr sz="1100"/>
          </a:p>
        </p:txBody>
      </p:sp>
      <p:sp>
        <p:nvSpPr>
          <p:cNvPr id="285" name="Google Shape;285;p15"/>
          <p:cNvSpPr txBox="1"/>
          <p:nvPr/>
        </p:nvSpPr>
        <p:spPr>
          <a:xfrm>
            <a:off x="594932" y="2876789"/>
            <a:ext cx="159448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human-readable, not a</a:t>
            </a:r>
            <a:endParaRPr sz="1100"/>
          </a:p>
        </p:txBody>
      </p:sp>
      <p:sp>
        <p:nvSpPr>
          <p:cNvPr id="286" name="Google Shape;286;p15"/>
          <p:cNvSpPr txBox="1"/>
          <p:nvPr/>
        </p:nvSpPr>
        <p:spPr>
          <a:xfrm>
            <a:off x="594932" y="3062526"/>
            <a:ext cx="881596"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column index</a:t>
            </a:r>
            <a:endParaRPr sz="1100"/>
          </a:p>
        </p:txBody>
      </p:sp>
      <p:sp>
        <p:nvSpPr>
          <p:cNvPr id="287" name="Google Shape;287;p15"/>
          <p:cNvSpPr txBox="1"/>
          <p:nvPr/>
        </p:nvSpPr>
        <p:spPr>
          <a:xfrm>
            <a:off x="594932" y="3376851"/>
            <a:ext cx="983489"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raw_features</a:t>
            </a:r>
            <a:endParaRPr sz="1100"/>
          </a:p>
        </p:txBody>
      </p:sp>
      <p:sp>
        <p:nvSpPr>
          <p:cNvPr id="288" name="Google Shape;288;p15"/>
          <p:cNvSpPr txBox="1"/>
          <p:nvPr/>
        </p:nvSpPr>
        <p:spPr>
          <a:xfrm>
            <a:off x="594932" y="3634026"/>
            <a:ext cx="1637690"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real numbers the agent</a:t>
            </a:r>
            <a:endParaRPr sz="1100"/>
          </a:p>
        </p:txBody>
      </p:sp>
      <p:sp>
        <p:nvSpPr>
          <p:cNvPr id="289" name="Google Shape;289;p15"/>
          <p:cNvSpPr txBox="1"/>
          <p:nvPr/>
        </p:nvSpPr>
        <p:spPr>
          <a:xfrm>
            <a:off x="594932" y="3819764"/>
            <a:ext cx="924801"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reasons over</a:t>
            </a:r>
            <a:endParaRPr sz="1100"/>
          </a:p>
        </p:txBody>
      </p:sp>
      <p:sp>
        <p:nvSpPr>
          <p:cNvPr id="290" name="Google Shape;290;p15"/>
          <p:cNvSpPr txBox="1"/>
          <p:nvPr/>
        </p:nvSpPr>
        <p:spPr>
          <a:xfrm>
            <a:off x="594932" y="4162664"/>
            <a:ext cx="2055343"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Georgia"/>
                <a:ea typeface="Georgia"/>
                <a:cs typeface="Georgia"/>
                <a:sym typeface="Georgia"/>
              </a:rPr>
              <a:t>src_ip + dst_ip = graph edges</a:t>
            </a:r>
            <a:endParaRPr sz="1100"/>
          </a:p>
        </p:txBody>
      </p:sp>
      <p:sp>
        <p:nvSpPr>
          <p:cNvPr id="291" name="Google Shape;291;p15"/>
          <p:cNvSpPr/>
          <p:nvPr/>
        </p:nvSpPr>
        <p:spPr>
          <a:xfrm>
            <a:off x="3257550" y="1000125"/>
            <a:ext cx="2628900" cy="3429000"/>
          </a:xfrm>
          <a:prstGeom prst="rect">
            <a:avLst/>
          </a:prstGeom>
          <a:noFill/>
          <a:ln cap="flat" cmpd="sng" w="19050">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15"/>
          <p:cNvSpPr/>
          <p:nvPr/>
        </p:nvSpPr>
        <p:spPr>
          <a:xfrm>
            <a:off x="3257550" y="1000125"/>
            <a:ext cx="2628900" cy="342900"/>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15"/>
          <p:cNvSpPr/>
          <p:nvPr/>
        </p:nvSpPr>
        <p:spPr>
          <a:xfrm>
            <a:off x="3380447" y="1093432"/>
            <a:ext cx="149179" cy="150195"/>
          </a:xfrm>
          <a:custGeom>
            <a:rect b="b" l="l" r="r" t="t"/>
            <a:pathLst>
              <a:path extrusionOk="0" h="200260" w="198906">
                <a:moveTo>
                  <a:pt x="121887" y="19152"/>
                </a:moveTo>
                <a:cubicBezTo>
                  <a:pt x="140957" y="30160"/>
                  <a:pt x="154332" y="48879"/>
                  <a:pt x="158568" y="70486"/>
                </a:cubicBezTo>
                <a:cubicBezTo>
                  <a:pt x="162804" y="92094"/>
                  <a:pt x="157487" y="114477"/>
                  <a:pt x="143985" y="131871"/>
                </a:cubicBezTo>
                <a:lnTo>
                  <a:pt x="195296" y="183182"/>
                </a:lnTo>
                <a:cubicBezTo>
                  <a:pt x="198906" y="186919"/>
                  <a:pt x="198854" y="192860"/>
                  <a:pt x="195180" y="196534"/>
                </a:cubicBezTo>
                <a:cubicBezTo>
                  <a:pt x="191506" y="200208"/>
                  <a:pt x="185565" y="200260"/>
                  <a:pt x="181828" y="196650"/>
                </a:cubicBezTo>
                <a:lnTo>
                  <a:pt x="130507" y="145339"/>
                </a:lnTo>
                <a:cubicBezTo>
                  <a:pt x="100255" y="168813"/>
                  <a:pt x="57282" y="166191"/>
                  <a:pt x="30108" y="139214"/>
                </a:cubicBezTo>
                <a:cubicBezTo>
                  <a:pt x="2934" y="112237"/>
                  <a:pt x="0" y="69284"/>
                  <a:pt x="23253" y="38862"/>
                </a:cubicBezTo>
                <a:cubicBezTo>
                  <a:pt x="46507" y="8441"/>
                  <a:pt x="88724" y="0"/>
                  <a:pt x="121887" y="19142"/>
                </a:cubicBezTo>
              </a:path>
            </a:pathLst>
          </a:cu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15"/>
          <p:cNvSpPr txBox="1"/>
          <p:nvPr/>
        </p:nvSpPr>
        <p:spPr>
          <a:xfrm>
            <a:off x="3594735" y="1107281"/>
            <a:ext cx="1284965" cy="2200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100">
                <a:solidFill>
                  <a:srgbClr val="F4F1E8"/>
                </a:solidFill>
                <a:latin typeface="Impact"/>
                <a:ea typeface="Impact"/>
                <a:cs typeface="Impact"/>
                <a:sym typeface="Impact"/>
              </a:rPr>
              <a:t>Enriched Incident</a:t>
            </a:r>
            <a:endParaRPr sz="1100"/>
          </a:p>
        </p:txBody>
      </p:sp>
      <p:sp>
        <p:nvSpPr>
          <p:cNvPr id="295" name="Google Shape;295;p15"/>
          <p:cNvSpPr txBox="1"/>
          <p:nvPr/>
        </p:nvSpPr>
        <p:spPr>
          <a:xfrm>
            <a:off x="3395282" y="1476614"/>
            <a:ext cx="123394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attack_technique</a:t>
            </a:r>
            <a:endParaRPr sz="1100"/>
          </a:p>
        </p:txBody>
      </p:sp>
      <p:sp>
        <p:nvSpPr>
          <p:cNvPr id="296" name="Google Shape;296;p15"/>
          <p:cNvSpPr txBox="1"/>
          <p:nvPr/>
        </p:nvSpPr>
        <p:spPr>
          <a:xfrm>
            <a:off x="3395282" y="1733789"/>
            <a:ext cx="167254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cited MITRE ATT&amp;CK id</a:t>
            </a:r>
            <a:endParaRPr sz="1100"/>
          </a:p>
        </p:txBody>
      </p:sp>
      <p:sp>
        <p:nvSpPr>
          <p:cNvPr id="297" name="Google Shape;297;p15"/>
          <p:cNvSpPr txBox="1"/>
          <p:nvPr/>
        </p:nvSpPr>
        <p:spPr>
          <a:xfrm>
            <a:off x="3395282" y="2048114"/>
            <a:ext cx="1520181"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confidence / severity</a:t>
            </a:r>
            <a:endParaRPr sz="1100"/>
          </a:p>
        </p:txBody>
      </p:sp>
      <p:sp>
        <p:nvSpPr>
          <p:cNvPr id="298" name="Google Shape;298;p15"/>
          <p:cNvSpPr txBox="1"/>
          <p:nvPr/>
        </p:nvSpPr>
        <p:spPr>
          <a:xfrm>
            <a:off x="3395282" y="2305289"/>
            <a:ext cx="199773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low retrieval → lower stated</a:t>
            </a:r>
            <a:endParaRPr sz="1100"/>
          </a:p>
        </p:txBody>
      </p:sp>
      <p:sp>
        <p:nvSpPr>
          <p:cNvPr id="299" name="Google Shape;299;p15"/>
          <p:cNvSpPr txBox="1"/>
          <p:nvPr/>
        </p:nvSpPr>
        <p:spPr>
          <a:xfrm>
            <a:off x="3395282" y="2491026"/>
            <a:ext cx="766382"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confidence</a:t>
            </a:r>
            <a:endParaRPr sz="1100"/>
          </a:p>
        </p:txBody>
      </p:sp>
      <p:sp>
        <p:nvSpPr>
          <p:cNvPr id="300" name="Google Shape;300;p15"/>
          <p:cNvSpPr txBox="1"/>
          <p:nvPr/>
        </p:nvSpPr>
        <p:spPr>
          <a:xfrm>
            <a:off x="3395282" y="2805351"/>
            <a:ext cx="163467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cve_refs / certin_refs</a:t>
            </a:r>
            <a:endParaRPr sz="1100"/>
          </a:p>
        </p:txBody>
      </p:sp>
      <p:sp>
        <p:nvSpPr>
          <p:cNvPr id="301" name="Google Shape;301;p15"/>
          <p:cNvSpPr txBox="1"/>
          <p:nvPr/>
        </p:nvSpPr>
        <p:spPr>
          <a:xfrm>
            <a:off x="3395282" y="3062526"/>
            <a:ext cx="1328052"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grounded citations</a:t>
            </a:r>
            <a:endParaRPr sz="1100"/>
          </a:p>
        </p:txBody>
      </p:sp>
      <p:sp>
        <p:nvSpPr>
          <p:cNvPr id="302" name="Google Shape;302;p15"/>
          <p:cNvSpPr txBox="1"/>
          <p:nvPr/>
        </p:nvSpPr>
        <p:spPr>
          <a:xfrm>
            <a:off x="3395282" y="3376851"/>
            <a:ext cx="123394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suggested_action</a:t>
            </a:r>
            <a:endParaRPr sz="1100"/>
          </a:p>
        </p:txBody>
      </p:sp>
      <p:sp>
        <p:nvSpPr>
          <p:cNvPr id="303" name="Google Shape;303;p15"/>
          <p:cNvSpPr txBox="1"/>
          <p:nvPr/>
        </p:nvSpPr>
        <p:spPr>
          <a:xfrm>
            <a:off x="3395282" y="3634026"/>
            <a:ext cx="932003"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advisory only</a:t>
            </a:r>
            <a:endParaRPr sz="1100"/>
          </a:p>
        </p:txBody>
      </p:sp>
      <p:sp>
        <p:nvSpPr>
          <p:cNvPr id="304" name="Google Shape;304;p15"/>
          <p:cNvSpPr/>
          <p:nvPr/>
        </p:nvSpPr>
        <p:spPr>
          <a:xfrm>
            <a:off x="6057900" y="1000125"/>
            <a:ext cx="2628900" cy="3429000"/>
          </a:xfrm>
          <a:prstGeom prst="rect">
            <a:avLst/>
          </a:prstGeom>
          <a:noFill/>
          <a:ln cap="flat" cmpd="sng" w="19050">
            <a:solidFill>
              <a:schemeClr val="accent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5" name="Google Shape;305;p15"/>
          <p:cNvSpPr/>
          <p:nvPr/>
        </p:nvSpPr>
        <p:spPr>
          <a:xfrm>
            <a:off x="6057900" y="1000125"/>
            <a:ext cx="2628900" cy="342900"/>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6" name="Google Shape;306;p15"/>
          <p:cNvSpPr/>
          <p:nvPr/>
        </p:nvSpPr>
        <p:spPr>
          <a:xfrm>
            <a:off x="6200452" y="1100138"/>
            <a:ext cx="114947" cy="145525"/>
          </a:xfrm>
          <a:custGeom>
            <a:rect b="b" l="l" r="r" t="t"/>
            <a:pathLst>
              <a:path extrusionOk="0" h="194034" w="153263">
                <a:moveTo>
                  <a:pt x="86156" y="0"/>
                </a:moveTo>
                <a:lnTo>
                  <a:pt x="86328" y="10"/>
                </a:lnTo>
                <a:lnTo>
                  <a:pt x="86480" y="19"/>
                </a:lnTo>
                <a:lnTo>
                  <a:pt x="87271" y="67"/>
                </a:lnTo>
                <a:lnTo>
                  <a:pt x="87375" y="86"/>
                </a:lnTo>
                <a:lnTo>
                  <a:pt x="87480" y="86"/>
                </a:lnTo>
                <a:lnTo>
                  <a:pt x="87842" y="171"/>
                </a:lnTo>
                <a:lnTo>
                  <a:pt x="88337" y="248"/>
                </a:lnTo>
                <a:lnTo>
                  <a:pt x="88490" y="305"/>
                </a:lnTo>
                <a:lnTo>
                  <a:pt x="88595" y="314"/>
                </a:lnTo>
                <a:lnTo>
                  <a:pt x="88871" y="419"/>
                </a:lnTo>
                <a:lnTo>
                  <a:pt x="89366" y="552"/>
                </a:lnTo>
                <a:lnTo>
                  <a:pt x="89547" y="638"/>
                </a:lnTo>
                <a:lnTo>
                  <a:pt x="89690" y="676"/>
                </a:lnTo>
                <a:lnTo>
                  <a:pt x="89957" y="810"/>
                </a:lnTo>
                <a:lnTo>
                  <a:pt x="90338" y="972"/>
                </a:lnTo>
                <a:lnTo>
                  <a:pt x="90538" y="1086"/>
                </a:lnTo>
                <a:lnTo>
                  <a:pt x="90747" y="1181"/>
                </a:lnTo>
                <a:lnTo>
                  <a:pt x="90966" y="1324"/>
                </a:lnTo>
                <a:lnTo>
                  <a:pt x="91262" y="1486"/>
                </a:lnTo>
                <a:lnTo>
                  <a:pt x="91586" y="1715"/>
                </a:lnTo>
                <a:lnTo>
                  <a:pt x="91757" y="1819"/>
                </a:lnTo>
                <a:lnTo>
                  <a:pt x="91881" y="1934"/>
                </a:lnTo>
                <a:lnTo>
                  <a:pt x="92109" y="2095"/>
                </a:lnTo>
                <a:lnTo>
                  <a:pt x="92471" y="2419"/>
                </a:lnTo>
                <a:lnTo>
                  <a:pt x="92681" y="2581"/>
                </a:lnTo>
                <a:lnTo>
                  <a:pt x="92757" y="2677"/>
                </a:lnTo>
                <a:lnTo>
                  <a:pt x="92890" y="2791"/>
                </a:lnTo>
                <a:lnTo>
                  <a:pt x="93233" y="3181"/>
                </a:lnTo>
                <a:lnTo>
                  <a:pt x="93481" y="3439"/>
                </a:lnTo>
                <a:lnTo>
                  <a:pt x="93538" y="3524"/>
                </a:lnTo>
                <a:cubicBezTo>
                  <a:pt x="94681" y="4924"/>
                  <a:pt x="95405" y="6591"/>
                  <a:pt x="95615" y="8411"/>
                </a:cubicBezTo>
                <a:lnTo>
                  <a:pt x="95624" y="8525"/>
                </a:lnTo>
                <a:lnTo>
                  <a:pt x="95643" y="8915"/>
                </a:lnTo>
                <a:lnTo>
                  <a:pt x="95681" y="9525"/>
                </a:lnTo>
                <a:lnTo>
                  <a:pt x="95681" y="66675"/>
                </a:lnTo>
                <a:lnTo>
                  <a:pt x="143306" y="66675"/>
                </a:lnTo>
                <a:cubicBezTo>
                  <a:pt x="146704" y="66674"/>
                  <a:pt x="149844" y="68483"/>
                  <a:pt x="151549" y="71422"/>
                </a:cubicBezTo>
                <a:cubicBezTo>
                  <a:pt x="153253" y="74361"/>
                  <a:pt x="153263" y="77986"/>
                  <a:pt x="151574" y="80934"/>
                </a:cubicBezTo>
                <a:lnTo>
                  <a:pt x="151002" y="81801"/>
                </a:lnTo>
                <a:lnTo>
                  <a:pt x="74802" y="186576"/>
                </a:lnTo>
                <a:cubicBezTo>
                  <a:pt x="69392" y="194034"/>
                  <a:pt x="57581" y="190195"/>
                  <a:pt x="57581" y="180975"/>
                </a:cubicBezTo>
                <a:lnTo>
                  <a:pt x="57581" y="123825"/>
                </a:lnTo>
                <a:lnTo>
                  <a:pt x="9956" y="123825"/>
                </a:lnTo>
                <a:cubicBezTo>
                  <a:pt x="6559" y="123826"/>
                  <a:pt x="3418" y="122017"/>
                  <a:pt x="1714" y="119078"/>
                </a:cubicBezTo>
                <a:cubicBezTo>
                  <a:pt x="10" y="116139"/>
                  <a:pt x="0" y="112514"/>
                  <a:pt x="1689" y="109566"/>
                </a:cubicBezTo>
                <a:lnTo>
                  <a:pt x="2260" y="108699"/>
                </a:lnTo>
                <a:lnTo>
                  <a:pt x="78460" y="3924"/>
                </a:lnTo>
                <a:lnTo>
                  <a:pt x="78555" y="3800"/>
                </a:lnTo>
                <a:lnTo>
                  <a:pt x="78727" y="3572"/>
                </a:lnTo>
                <a:lnTo>
                  <a:pt x="79041" y="3210"/>
                </a:lnTo>
                <a:lnTo>
                  <a:pt x="79213" y="3000"/>
                </a:lnTo>
                <a:lnTo>
                  <a:pt x="79298" y="2924"/>
                </a:lnTo>
                <a:lnTo>
                  <a:pt x="79422" y="2791"/>
                </a:lnTo>
                <a:lnTo>
                  <a:pt x="79803" y="2448"/>
                </a:lnTo>
                <a:lnTo>
                  <a:pt x="80070" y="2200"/>
                </a:lnTo>
                <a:lnTo>
                  <a:pt x="80146" y="2143"/>
                </a:lnTo>
                <a:cubicBezTo>
                  <a:pt x="81262" y="1229"/>
                  <a:pt x="82572" y="581"/>
                  <a:pt x="83975" y="248"/>
                </a:cubicBezTo>
                <a:lnTo>
                  <a:pt x="84080" y="238"/>
                </a:lnTo>
                <a:lnTo>
                  <a:pt x="84337" y="191"/>
                </a:lnTo>
                <a:lnTo>
                  <a:pt x="85042" y="67"/>
                </a:lnTo>
                <a:lnTo>
                  <a:pt x="85147" y="57"/>
                </a:lnTo>
                <a:lnTo>
                  <a:pt x="85537" y="38"/>
                </a:lnTo>
                <a:close/>
              </a:path>
            </a:pathLst>
          </a:cu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15"/>
          <p:cNvSpPr txBox="1"/>
          <p:nvPr/>
        </p:nvSpPr>
        <p:spPr>
          <a:xfrm>
            <a:off x="6395085" y="1107281"/>
            <a:ext cx="1436894" cy="2200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100">
                <a:solidFill>
                  <a:srgbClr val="F4F1E8"/>
                </a:solidFill>
                <a:latin typeface="Impact"/>
                <a:ea typeface="Impact"/>
                <a:cs typeface="Impact"/>
                <a:sym typeface="Impact"/>
              </a:rPr>
              <a:t>Containment Action</a:t>
            </a:r>
            <a:endParaRPr sz="1100"/>
          </a:p>
        </p:txBody>
      </p:sp>
      <p:sp>
        <p:nvSpPr>
          <p:cNvPr id="308" name="Google Shape;308;p15"/>
          <p:cNvSpPr txBox="1"/>
          <p:nvPr/>
        </p:nvSpPr>
        <p:spPr>
          <a:xfrm>
            <a:off x="6195632" y="1476614"/>
            <a:ext cx="446797"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action</a:t>
            </a:r>
            <a:endParaRPr sz="1100"/>
          </a:p>
        </p:txBody>
      </p:sp>
      <p:sp>
        <p:nvSpPr>
          <p:cNvPr id="309" name="Google Shape;309;p15"/>
          <p:cNvSpPr txBox="1"/>
          <p:nvPr/>
        </p:nvSpPr>
        <p:spPr>
          <a:xfrm>
            <a:off x="6195632" y="1733789"/>
            <a:ext cx="1738503"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isolate_host / block_ip /</a:t>
            </a:r>
            <a:endParaRPr sz="1100"/>
          </a:p>
        </p:txBody>
      </p:sp>
      <p:sp>
        <p:nvSpPr>
          <p:cNvPr id="310" name="Google Shape;310;p15"/>
          <p:cNvSpPr txBox="1"/>
          <p:nvPr/>
        </p:nvSpPr>
        <p:spPr>
          <a:xfrm>
            <a:off x="6195632" y="1919526"/>
            <a:ext cx="557555"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monitor</a:t>
            </a:r>
            <a:endParaRPr sz="1100"/>
          </a:p>
        </p:txBody>
      </p:sp>
      <p:sp>
        <p:nvSpPr>
          <p:cNvPr id="311" name="Google Shape;311;p15"/>
          <p:cNvSpPr txBox="1"/>
          <p:nvPr/>
        </p:nvSpPr>
        <p:spPr>
          <a:xfrm>
            <a:off x="6195632" y="2233851"/>
            <a:ext cx="482576"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dk1"/>
                </a:solidFill>
                <a:latin typeface="Consolas"/>
                <a:ea typeface="Consolas"/>
                <a:cs typeface="Consolas"/>
                <a:sym typeface="Consolas"/>
              </a:rPr>
              <a:t>status</a:t>
            </a:r>
            <a:endParaRPr sz="1100"/>
          </a:p>
        </p:txBody>
      </p:sp>
      <p:sp>
        <p:nvSpPr>
          <p:cNvPr id="312" name="Google Shape;312;p15"/>
          <p:cNvSpPr txBox="1"/>
          <p:nvPr/>
        </p:nvSpPr>
        <p:spPr>
          <a:xfrm>
            <a:off x="6195631" y="2491026"/>
            <a:ext cx="1328052"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pending_approval →</a:t>
            </a:r>
            <a:endParaRPr sz="1100"/>
          </a:p>
        </p:txBody>
      </p:sp>
      <p:sp>
        <p:nvSpPr>
          <p:cNvPr id="313" name="Google Shape;313;p15"/>
          <p:cNvSpPr txBox="1"/>
          <p:nvPr/>
        </p:nvSpPr>
        <p:spPr>
          <a:xfrm>
            <a:off x="6195632" y="2676764"/>
            <a:ext cx="2112949"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approved → simulated_success</a:t>
            </a:r>
            <a:endParaRPr sz="1100"/>
          </a:p>
        </p:txBody>
      </p:sp>
      <p:sp>
        <p:nvSpPr>
          <p:cNvPr id="314" name="Google Shape;314;p15"/>
          <p:cNvSpPr txBox="1"/>
          <p:nvPr/>
        </p:nvSpPr>
        <p:spPr>
          <a:xfrm>
            <a:off x="6195632" y="2991089"/>
            <a:ext cx="1777793"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000">
                <a:solidFill>
                  <a:schemeClr val="accent2"/>
                </a:solidFill>
                <a:latin typeface="Consolas"/>
                <a:ea typeface="Consolas"/>
                <a:cs typeface="Consolas"/>
                <a:sym typeface="Consolas"/>
              </a:rPr>
              <a:t>requires_human_approval</a:t>
            </a:r>
            <a:endParaRPr sz="1100"/>
          </a:p>
        </p:txBody>
      </p:sp>
      <p:sp>
        <p:nvSpPr>
          <p:cNvPr id="315" name="Google Shape;315;p15"/>
          <p:cNvSpPr txBox="1"/>
          <p:nvPr/>
        </p:nvSpPr>
        <p:spPr>
          <a:xfrm>
            <a:off x="6195632" y="3248264"/>
            <a:ext cx="1688097"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dk2"/>
                </a:solidFill>
                <a:latin typeface="Georgia"/>
                <a:ea typeface="Georgia"/>
                <a:cs typeface="Georgia"/>
                <a:sym typeface="Georgia"/>
              </a:rPr>
              <a:t>true above blast-radius</a:t>
            </a:r>
            <a:endParaRPr sz="1100"/>
          </a:p>
        </p:txBody>
      </p:sp>
      <p:sp>
        <p:nvSpPr>
          <p:cNvPr id="316" name="Google Shape;316;p15"/>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317" name="Google Shape;317;p15"/>
          <p:cNvSpPr txBox="1"/>
          <p:nvPr/>
        </p:nvSpPr>
        <p:spPr>
          <a:xfrm>
            <a:off x="452057" y="4891326"/>
            <a:ext cx="838390" cy="198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6"/>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323" name="Google Shape;323;p16"/>
          <p:cNvSpPr txBox="1"/>
          <p:nvPr/>
        </p:nvSpPr>
        <p:spPr>
          <a:xfrm>
            <a:off x="442913" y="88582"/>
            <a:ext cx="7548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A defensible number, not perfection</a:t>
            </a:r>
            <a:endParaRPr sz="1100"/>
          </a:p>
        </p:txBody>
      </p:sp>
      <p:sp>
        <p:nvSpPr>
          <p:cNvPr id="324" name="Google Shape;324;p16"/>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12</a:t>
            </a:r>
            <a:endParaRPr sz="1100"/>
          </a:p>
        </p:txBody>
      </p:sp>
      <p:sp>
        <p:nvSpPr>
          <p:cNvPr id="325" name="Google Shape;325;p16"/>
          <p:cNvSpPr txBox="1"/>
          <p:nvPr/>
        </p:nvSpPr>
        <p:spPr>
          <a:xfrm>
            <a:off x="450342" y="568643"/>
            <a:ext cx="9044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 sz="1400">
                <a:solidFill>
                  <a:schemeClr val="dk2"/>
                </a:solidFill>
                <a:latin typeface="Georgia"/>
                <a:ea typeface="Georgia"/>
                <a:cs typeface="Georgia"/>
                <a:sym typeface="Georgia"/>
              </a:rPr>
              <a:t>Unsupervised, fit on normal traffic only, evaluated on held-out normal plus every attack class.</a:t>
            </a:r>
            <a:endParaRPr sz="1100"/>
          </a:p>
        </p:txBody>
      </p:sp>
      <p:grpSp>
        <p:nvGrpSpPr>
          <p:cNvPr id="326" name="Google Shape;326;p16"/>
          <p:cNvGrpSpPr/>
          <p:nvPr/>
        </p:nvGrpSpPr>
        <p:grpSpPr>
          <a:xfrm>
            <a:off x="457200" y="1190625"/>
            <a:ext cx="1866900" cy="2952900"/>
            <a:chOff x="0" y="0"/>
            <a:chExt cx="1866900" cy="2952900"/>
          </a:xfrm>
        </p:grpSpPr>
        <p:sp>
          <p:nvSpPr>
            <p:cNvPr id="327" name="Google Shape;327;p16"/>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16"/>
            <p:cNvSpPr/>
            <p:nvPr/>
          </p:nvSpPr>
          <p:spPr>
            <a:xfrm>
              <a:off x="0" y="0"/>
              <a:ext cx="57300" cy="29529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16"/>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B3261E"/>
                  </a:solidFill>
                  <a:latin typeface="Material Icons"/>
                  <a:ea typeface="Material Icons"/>
                  <a:cs typeface="Material Icons"/>
                  <a:sym typeface="Material Icons"/>
                </a:rPr>
                <a:t>insights</a:t>
              </a:r>
              <a:r>
                <a:rPr b="1" lang="en" sz="1800">
                  <a:solidFill>
                    <a:srgbClr val="B3261E"/>
                  </a:solidFill>
                  <a:latin typeface="Consolas"/>
                  <a:ea typeface="Consolas"/>
                  <a:cs typeface="Consolas"/>
                  <a:sym typeface="Consolas"/>
                </a:rPr>
                <a:t>01</a:t>
              </a:r>
              <a:endParaRPr sz="2400">
                <a:solidFill>
                  <a:srgbClr val="B3261E"/>
                </a:solidFill>
                <a:latin typeface="Material Icons"/>
                <a:ea typeface="Material Icons"/>
                <a:cs typeface="Material Icons"/>
                <a:sym typeface="Material Icons"/>
              </a:endParaRPr>
            </a:p>
            <a:p>
              <a:pPr indent="0" lvl="0" marL="0" rtl="0" algn="l">
                <a:spcBef>
                  <a:spcPts val="750"/>
                </a:spcBef>
                <a:spcAft>
                  <a:spcPts val="0"/>
                </a:spcAft>
                <a:buNone/>
              </a:pPr>
              <a:r>
                <a:rPr lang="en" sz="1400">
                  <a:solidFill>
                    <a:srgbClr val="16181C"/>
                  </a:solidFill>
                  <a:latin typeface="Impact"/>
                  <a:ea typeface="Impact"/>
                  <a:cs typeface="Impact"/>
                  <a:sym typeface="Impact"/>
                </a:rPr>
                <a:t>ROC-AUC</a:t>
              </a:r>
              <a:endParaRPr sz="1400">
                <a:solidFill>
                  <a:srgbClr val="16181C"/>
                </a:solidFill>
                <a:latin typeface="Impact"/>
                <a:ea typeface="Impact"/>
                <a:cs typeface="Impact"/>
                <a:sym typeface="Impact"/>
              </a:endParaRPr>
            </a:p>
            <a:p>
              <a:pPr indent="0" lvl="0" marL="0" rtl="0" algn="l">
                <a:spcBef>
                  <a:spcPts val="0"/>
                </a:spcBef>
                <a:spcAft>
                  <a:spcPts val="0"/>
                </a:spcAft>
                <a:buNone/>
              </a:pPr>
              <a:r>
                <a:rPr b="0" i="1" lang="en" sz="1100">
                  <a:solidFill>
                    <a:srgbClr val="6B6E73"/>
                  </a:solidFill>
                  <a:latin typeface="Georgia"/>
                  <a:ea typeface="Georgia"/>
                  <a:cs typeface="Georgia"/>
                  <a:sym typeface="Georgia"/>
                </a:rPr>
                <a:t>threshold-free</a:t>
              </a:r>
              <a:endParaRPr b="0" i="1" sz="1100">
                <a:solidFill>
                  <a:srgbClr val="6B6E73"/>
                </a:solidFill>
                <a:latin typeface="Georgia"/>
                <a:ea typeface="Georgia"/>
                <a:cs typeface="Georgia"/>
                <a:sym typeface="Georgia"/>
              </a:endParaRPr>
            </a:p>
            <a:p>
              <a:pPr indent="0" lvl="0" marL="0" rtl="0" algn="l">
                <a:spcBef>
                  <a:spcPts val="1125"/>
                </a:spcBef>
                <a:spcAft>
                  <a:spcPts val="0"/>
                </a:spcAft>
                <a:buNone/>
              </a:pPr>
              <a:r>
                <a:rPr b="1" lang="en" sz="3200">
                  <a:solidFill>
                    <a:srgbClr val="B3261E"/>
                  </a:solidFill>
                  <a:latin typeface="Consolas"/>
                  <a:ea typeface="Consolas"/>
                  <a:cs typeface="Consolas"/>
                  <a:sym typeface="Consolas"/>
                </a:rPr>
                <a:t>0.867</a:t>
              </a:r>
              <a:endParaRPr b="1" sz="3200">
                <a:solidFill>
                  <a:srgbClr val="B3261E"/>
                </a:solidFill>
                <a:latin typeface="Consolas"/>
                <a:ea typeface="Consolas"/>
                <a:cs typeface="Consolas"/>
                <a:sym typeface="Consolas"/>
              </a:endParaRPr>
            </a:p>
          </p:txBody>
        </p:sp>
      </p:grpSp>
      <p:grpSp>
        <p:nvGrpSpPr>
          <p:cNvPr id="330" name="Google Shape;330;p16"/>
          <p:cNvGrpSpPr/>
          <p:nvPr/>
        </p:nvGrpSpPr>
        <p:grpSpPr>
          <a:xfrm>
            <a:off x="2514600" y="1190625"/>
            <a:ext cx="1866900" cy="2952900"/>
            <a:chOff x="0" y="0"/>
            <a:chExt cx="1866900" cy="2952900"/>
          </a:xfrm>
        </p:grpSpPr>
        <p:sp>
          <p:nvSpPr>
            <p:cNvPr id="331" name="Google Shape;331;p16"/>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6"/>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16181C"/>
                  </a:solidFill>
                  <a:latin typeface="Material Icons"/>
                  <a:ea typeface="Material Icons"/>
                  <a:cs typeface="Material Icons"/>
                  <a:sym typeface="Material Icons"/>
                </a:rPr>
                <a:t>adjust</a:t>
              </a:r>
              <a:r>
                <a:rPr b="1" lang="en" sz="1800">
                  <a:solidFill>
                    <a:srgbClr val="6B6E73"/>
                  </a:solidFill>
                  <a:latin typeface="Consolas"/>
                  <a:ea typeface="Consolas"/>
                  <a:cs typeface="Consolas"/>
                  <a:sym typeface="Consolas"/>
                </a:rPr>
                <a:t>02</a:t>
              </a:r>
              <a:endParaRPr sz="2400">
                <a:solidFill>
                  <a:srgbClr val="16181C"/>
                </a:solidFill>
                <a:latin typeface="Material Icons"/>
                <a:ea typeface="Material Icons"/>
                <a:cs typeface="Material Icons"/>
                <a:sym typeface="Material Icons"/>
              </a:endParaRPr>
            </a:p>
            <a:p>
              <a:pPr indent="0" lvl="0" marL="0" rtl="0" algn="l">
                <a:spcBef>
                  <a:spcPts val="750"/>
                </a:spcBef>
                <a:spcAft>
                  <a:spcPts val="0"/>
                </a:spcAft>
                <a:buNone/>
              </a:pPr>
              <a:r>
                <a:rPr lang="en" sz="1400">
                  <a:solidFill>
                    <a:srgbClr val="16181C"/>
                  </a:solidFill>
                  <a:latin typeface="Impact"/>
                  <a:ea typeface="Impact"/>
                  <a:cs typeface="Impact"/>
                  <a:sym typeface="Impact"/>
                </a:rPr>
                <a:t>Recall</a:t>
              </a:r>
              <a:endParaRPr sz="1400">
                <a:solidFill>
                  <a:srgbClr val="16181C"/>
                </a:solidFill>
                <a:latin typeface="Impact"/>
                <a:ea typeface="Impact"/>
                <a:cs typeface="Impact"/>
                <a:sym typeface="Impact"/>
              </a:endParaRPr>
            </a:p>
            <a:p>
              <a:pPr indent="0" lvl="0" marL="0" rtl="0" algn="l">
                <a:spcBef>
                  <a:spcPts val="0"/>
                </a:spcBef>
                <a:spcAft>
                  <a:spcPts val="0"/>
                </a:spcAft>
                <a:buNone/>
              </a:pPr>
              <a:r>
                <a:rPr b="0" i="1" lang="en" sz="1100">
                  <a:solidFill>
                    <a:srgbClr val="6B6E73"/>
                  </a:solidFill>
                  <a:latin typeface="Georgia"/>
                  <a:ea typeface="Georgia"/>
                  <a:cs typeface="Georgia"/>
                  <a:sym typeface="Georgia"/>
                </a:rPr>
                <a:t>@ balanced pt</a:t>
              </a:r>
              <a:endParaRPr b="0" i="1" sz="1100">
                <a:solidFill>
                  <a:srgbClr val="6B6E73"/>
                </a:solidFill>
                <a:latin typeface="Georgia"/>
                <a:ea typeface="Georgia"/>
                <a:cs typeface="Georgia"/>
                <a:sym typeface="Georgia"/>
              </a:endParaRPr>
            </a:p>
            <a:p>
              <a:pPr indent="0" lvl="0" marL="0" rtl="0" algn="l">
                <a:spcBef>
                  <a:spcPts val="1125"/>
                </a:spcBef>
                <a:spcAft>
                  <a:spcPts val="0"/>
                </a:spcAft>
                <a:buNone/>
              </a:pPr>
              <a:r>
                <a:rPr b="1" lang="en" sz="3200">
                  <a:solidFill>
                    <a:srgbClr val="16181C"/>
                  </a:solidFill>
                  <a:latin typeface="Consolas"/>
                  <a:ea typeface="Consolas"/>
                  <a:cs typeface="Consolas"/>
                  <a:sym typeface="Consolas"/>
                </a:rPr>
                <a:t>0.749</a:t>
              </a:r>
              <a:endParaRPr b="1" sz="3200">
                <a:solidFill>
                  <a:srgbClr val="16181C"/>
                </a:solidFill>
                <a:latin typeface="Consolas"/>
                <a:ea typeface="Consolas"/>
                <a:cs typeface="Consolas"/>
                <a:sym typeface="Consolas"/>
              </a:endParaRPr>
            </a:p>
            <a:p>
              <a:pPr indent="0" lvl="0" marL="0" rtl="0" algn="l">
                <a:spcBef>
                  <a:spcPts val="375"/>
                </a:spcBef>
                <a:spcAft>
                  <a:spcPts val="0"/>
                </a:spcAft>
                <a:buNone/>
              </a:pPr>
              <a:r>
                <a:rPr b="0" i="1" lang="en" sz="1000">
                  <a:solidFill>
                    <a:srgbClr val="6B6E73"/>
                  </a:solidFill>
                  <a:latin typeface="Georgia"/>
                  <a:ea typeface="Georgia"/>
                  <a:cs typeface="Georgia"/>
                  <a:sym typeface="Georgia"/>
                </a:rPr>
                <a:t>at 10.0% FPR</a:t>
              </a:r>
              <a:endParaRPr b="0" i="1" sz="1000">
                <a:solidFill>
                  <a:srgbClr val="6B6E73"/>
                </a:solidFill>
                <a:latin typeface="Georgia"/>
                <a:ea typeface="Georgia"/>
                <a:cs typeface="Georgia"/>
                <a:sym typeface="Georgia"/>
              </a:endParaRPr>
            </a:p>
          </p:txBody>
        </p:sp>
      </p:grpSp>
      <p:grpSp>
        <p:nvGrpSpPr>
          <p:cNvPr id="333" name="Google Shape;333;p16"/>
          <p:cNvGrpSpPr/>
          <p:nvPr/>
        </p:nvGrpSpPr>
        <p:grpSpPr>
          <a:xfrm>
            <a:off x="4572000" y="1190625"/>
            <a:ext cx="1866900" cy="2952900"/>
            <a:chOff x="0" y="0"/>
            <a:chExt cx="1866900" cy="2952900"/>
          </a:xfrm>
        </p:grpSpPr>
        <p:sp>
          <p:nvSpPr>
            <p:cNvPr id="334" name="Google Shape;334;p16"/>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6"/>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16181C"/>
                  </a:solidFill>
                  <a:latin typeface="Material Icons"/>
                  <a:ea typeface="Material Icons"/>
                  <a:cs typeface="Material Icons"/>
                  <a:sym typeface="Material Icons"/>
                </a:rPr>
                <a:t>track_changes</a:t>
              </a:r>
              <a:r>
                <a:rPr b="1" lang="en" sz="1800">
                  <a:solidFill>
                    <a:srgbClr val="6B6E73"/>
                  </a:solidFill>
                  <a:latin typeface="Consolas"/>
                  <a:ea typeface="Consolas"/>
                  <a:cs typeface="Consolas"/>
                  <a:sym typeface="Consolas"/>
                </a:rPr>
                <a:t>03</a:t>
              </a:r>
              <a:endParaRPr sz="2400">
                <a:solidFill>
                  <a:srgbClr val="16181C"/>
                </a:solidFill>
                <a:latin typeface="Material Icons"/>
                <a:ea typeface="Material Icons"/>
                <a:cs typeface="Material Icons"/>
                <a:sym typeface="Material Icons"/>
              </a:endParaRPr>
            </a:p>
            <a:p>
              <a:pPr indent="0" lvl="0" marL="0" rtl="0" algn="l">
                <a:spcBef>
                  <a:spcPts val="750"/>
                </a:spcBef>
                <a:spcAft>
                  <a:spcPts val="0"/>
                </a:spcAft>
                <a:buNone/>
              </a:pPr>
              <a:r>
                <a:rPr lang="en" sz="1400">
                  <a:solidFill>
                    <a:srgbClr val="16181C"/>
                  </a:solidFill>
                  <a:latin typeface="Impact"/>
                  <a:ea typeface="Impact"/>
                  <a:cs typeface="Impact"/>
                  <a:sym typeface="Impact"/>
                </a:rPr>
                <a:t>Recall</a:t>
              </a:r>
              <a:endParaRPr sz="1400">
                <a:solidFill>
                  <a:srgbClr val="16181C"/>
                </a:solidFill>
                <a:latin typeface="Impact"/>
                <a:ea typeface="Impact"/>
                <a:cs typeface="Impact"/>
                <a:sym typeface="Impact"/>
              </a:endParaRPr>
            </a:p>
            <a:p>
              <a:pPr indent="0" lvl="0" marL="0" rtl="0" algn="l">
                <a:spcBef>
                  <a:spcPts val="0"/>
                </a:spcBef>
                <a:spcAft>
                  <a:spcPts val="0"/>
                </a:spcAft>
                <a:buNone/>
              </a:pPr>
              <a:r>
                <a:rPr b="0" i="1" lang="en" sz="1100">
                  <a:solidFill>
                    <a:srgbClr val="6B6E73"/>
                  </a:solidFill>
                  <a:latin typeface="Georgia"/>
                  <a:ea typeface="Georgia"/>
                  <a:cs typeface="Georgia"/>
                  <a:sym typeface="Georgia"/>
                </a:rPr>
                <a:t>@ high-recall</a:t>
              </a:r>
              <a:endParaRPr b="0" i="1" sz="1100">
                <a:solidFill>
                  <a:srgbClr val="6B6E73"/>
                </a:solidFill>
                <a:latin typeface="Georgia"/>
                <a:ea typeface="Georgia"/>
                <a:cs typeface="Georgia"/>
                <a:sym typeface="Georgia"/>
              </a:endParaRPr>
            </a:p>
            <a:p>
              <a:pPr indent="0" lvl="0" marL="0" rtl="0" algn="l">
                <a:spcBef>
                  <a:spcPts val="1125"/>
                </a:spcBef>
                <a:spcAft>
                  <a:spcPts val="0"/>
                </a:spcAft>
                <a:buNone/>
              </a:pPr>
              <a:r>
                <a:rPr b="1" lang="en" sz="3200">
                  <a:solidFill>
                    <a:srgbClr val="16181C"/>
                  </a:solidFill>
                  <a:latin typeface="Consolas"/>
                  <a:ea typeface="Consolas"/>
                  <a:cs typeface="Consolas"/>
                  <a:sym typeface="Consolas"/>
                </a:rPr>
                <a:t>0.820</a:t>
              </a:r>
              <a:endParaRPr b="1" sz="3200">
                <a:solidFill>
                  <a:srgbClr val="16181C"/>
                </a:solidFill>
                <a:latin typeface="Consolas"/>
                <a:ea typeface="Consolas"/>
                <a:cs typeface="Consolas"/>
                <a:sym typeface="Consolas"/>
              </a:endParaRPr>
            </a:p>
            <a:p>
              <a:pPr indent="0" lvl="0" marL="0" rtl="0" algn="l">
                <a:spcBef>
                  <a:spcPts val="375"/>
                </a:spcBef>
                <a:spcAft>
                  <a:spcPts val="0"/>
                </a:spcAft>
                <a:buNone/>
              </a:pPr>
              <a:r>
                <a:rPr b="0" i="1" lang="en" sz="1000">
                  <a:solidFill>
                    <a:srgbClr val="6B6E73"/>
                  </a:solidFill>
                  <a:latin typeface="Georgia"/>
                  <a:ea typeface="Georgia"/>
                  <a:cs typeface="Georgia"/>
                  <a:sym typeface="Georgia"/>
                </a:rPr>
                <a:t>at 20.3% FPR</a:t>
              </a:r>
              <a:endParaRPr b="0" i="1" sz="1000">
                <a:solidFill>
                  <a:srgbClr val="6B6E73"/>
                </a:solidFill>
                <a:latin typeface="Georgia"/>
                <a:ea typeface="Georgia"/>
                <a:cs typeface="Georgia"/>
                <a:sym typeface="Georgia"/>
              </a:endParaRPr>
            </a:p>
          </p:txBody>
        </p:sp>
      </p:grpSp>
      <p:grpSp>
        <p:nvGrpSpPr>
          <p:cNvPr id="336" name="Google Shape;336;p16"/>
          <p:cNvGrpSpPr/>
          <p:nvPr/>
        </p:nvGrpSpPr>
        <p:grpSpPr>
          <a:xfrm>
            <a:off x="6629400" y="1190625"/>
            <a:ext cx="1866900" cy="2952900"/>
            <a:chOff x="0" y="0"/>
            <a:chExt cx="1866900" cy="2952900"/>
          </a:xfrm>
        </p:grpSpPr>
        <p:sp>
          <p:nvSpPr>
            <p:cNvPr id="337" name="Google Shape;337;p16"/>
            <p:cNvSpPr/>
            <p:nvPr/>
          </p:nvSpPr>
          <p:spPr>
            <a:xfrm>
              <a:off x="0" y="0"/>
              <a:ext cx="1866900" cy="29529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16"/>
            <p:cNvSpPr txBox="1"/>
            <p:nvPr/>
          </p:nvSpPr>
          <p:spPr>
            <a:xfrm>
              <a:off x="0" y="0"/>
              <a:ext cx="1866900" cy="2952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lang="en" sz="2400">
                  <a:solidFill>
                    <a:srgbClr val="16181C"/>
                  </a:solidFill>
                  <a:latin typeface="Material Icons"/>
                  <a:ea typeface="Material Icons"/>
                  <a:cs typeface="Material Icons"/>
                  <a:sym typeface="Material Icons"/>
                </a:rPr>
                <a:t>gps_fixed</a:t>
              </a:r>
              <a:r>
                <a:rPr b="1" lang="en" sz="1800">
                  <a:solidFill>
                    <a:srgbClr val="6B6E73"/>
                  </a:solidFill>
                  <a:latin typeface="Consolas"/>
                  <a:ea typeface="Consolas"/>
                  <a:cs typeface="Consolas"/>
                  <a:sym typeface="Consolas"/>
                </a:rPr>
                <a:t>04</a:t>
              </a:r>
              <a:endParaRPr sz="2400">
                <a:solidFill>
                  <a:srgbClr val="16181C"/>
                </a:solidFill>
                <a:latin typeface="Material Icons"/>
                <a:ea typeface="Material Icons"/>
                <a:cs typeface="Material Icons"/>
                <a:sym typeface="Material Icons"/>
              </a:endParaRPr>
            </a:p>
            <a:p>
              <a:pPr indent="0" lvl="0" marL="0" rtl="0" algn="l">
                <a:spcBef>
                  <a:spcPts val="750"/>
                </a:spcBef>
                <a:spcAft>
                  <a:spcPts val="0"/>
                </a:spcAft>
                <a:buNone/>
              </a:pPr>
              <a:r>
                <a:rPr lang="en" sz="1400">
                  <a:solidFill>
                    <a:srgbClr val="16181C"/>
                  </a:solidFill>
                  <a:latin typeface="Impact"/>
                  <a:ea typeface="Impact"/>
                  <a:cs typeface="Impact"/>
                  <a:sym typeface="Impact"/>
                </a:rPr>
                <a:t>Precision</a:t>
              </a:r>
              <a:endParaRPr sz="1400">
                <a:solidFill>
                  <a:srgbClr val="16181C"/>
                </a:solidFill>
                <a:latin typeface="Impact"/>
                <a:ea typeface="Impact"/>
                <a:cs typeface="Impact"/>
                <a:sym typeface="Impact"/>
              </a:endParaRPr>
            </a:p>
            <a:p>
              <a:pPr indent="0" lvl="0" marL="0" rtl="0" algn="l">
                <a:spcBef>
                  <a:spcPts val="0"/>
                </a:spcBef>
                <a:spcAft>
                  <a:spcPts val="0"/>
                </a:spcAft>
                <a:buNone/>
              </a:pPr>
              <a:r>
                <a:rPr b="0" i="1" lang="en" sz="1100">
                  <a:solidFill>
                    <a:srgbClr val="6B6E73"/>
                  </a:solidFill>
                  <a:latin typeface="Georgia"/>
                  <a:ea typeface="Georgia"/>
                  <a:cs typeface="Georgia"/>
                  <a:sym typeface="Georgia"/>
                </a:rPr>
                <a:t>@ balanced pt</a:t>
              </a:r>
              <a:endParaRPr b="0" i="1" sz="1100">
                <a:solidFill>
                  <a:srgbClr val="6B6E73"/>
                </a:solidFill>
                <a:latin typeface="Georgia"/>
                <a:ea typeface="Georgia"/>
                <a:cs typeface="Georgia"/>
                <a:sym typeface="Georgia"/>
              </a:endParaRPr>
            </a:p>
            <a:p>
              <a:pPr indent="0" lvl="0" marL="0" rtl="0" algn="l">
                <a:spcBef>
                  <a:spcPts val="1125"/>
                </a:spcBef>
                <a:spcAft>
                  <a:spcPts val="0"/>
                </a:spcAft>
                <a:buNone/>
              </a:pPr>
              <a:r>
                <a:rPr b="1" lang="en" sz="3200">
                  <a:solidFill>
                    <a:srgbClr val="16181C"/>
                  </a:solidFill>
                  <a:latin typeface="Consolas"/>
                  <a:ea typeface="Consolas"/>
                  <a:cs typeface="Consolas"/>
                  <a:sym typeface="Consolas"/>
                </a:rPr>
                <a:t>0.981</a:t>
              </a:r>
              <a:endParaRPr b="1" sz="3200">
                <a:solidFill>
                  <a:srgbClr val="16181C"/>
                </a:solidFill>
                <a:latin typeface="Consolas"/>
                <a:ea typeface="Consolas"/>
                <a:cs typeface="Consolas"/>
                <a:sym typeface="Consolas"/>
              </a:endParaRPr>
            </a:p>
            <a:p>
              <a:pPr indent="0" lvl="0" marL="0" rtl="0" algn="l">
                <a:spcBef>
                  <a:spcPts val="375"/>
                </a:spcBef>
                <a:spcAft>
                  <a:spcPts val="0"/>
                </a:spcAft>
                <a:buNone/>
              </a:pPr>
              <a:r>
                <a:rPr b="0" i="1" lang="en" sz="1000">
                  <a:solidFill>
                    <a:srgbClr val="6B6E73"/>
                  </a:solidFill>
                  <a:latin typeface="Georgia"/>
                  <a:ea typeface="Georgia"/>
                  <a:cs typeface="Georgia"/>
                  <a:sym typeface="Georgia"/>
                </a:rPr>
                <a:t>optimum threshold</a:t>
              </a:r>
              <a:endParaRPr b="0" i="1" sz="1000">
                <a:solidFill>
                  <a:srgbClr val="6B6E73"/>
                </a:solidFill>
                <a:latin typeface="Georgia"/>
                <a:ea typeface="Georgia"/>
                <a:cs typeface="Georgia"/>
                <a:sym typeface="Georgia"/>
              </a:endParaRPr>
            </a:p>
          </p:txBody>
        </p:sp>
      </p:grpSp>
      <p:sp>
        <p:nvSpPr>
          <p:cNvPr id="339" name="Google Shape;339;p16"/>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340" name="Google Shape;340;p16"/>
          <p:cNvSpPr txBox="1"/>
          <p:nvPr/>
        </p:nvSpPr>
        <p:spPr>
          <a:xfrm>
            <a:off x="452056" y="4891326"/>
            <a:ext cx="39648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Source: engine/RESULTS.md / Isolation Forest, UNSW-NB15</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7"/>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346" name="Google Shape;346;p17"/>
          <p:cNvSpPr txBox="1"/>
          <p:nvPr/>
        </p:nvSpPr>
        <p:spPr>
          <a:xfrm>
            <a:off x="442913" y="88582"/>
            <a:ext cx="6807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3200">
                <a:solidFill>
                  <a:schemeClr val="dk1"/>
                </a:solidFill>
                <a:latin typeface="Impact"/>
                <a:ea typeface="Impact"/>
                <a:cs typeface="Impact"/>
                <a:sym typeface="Impact"/>
              </a:rPr>
              <a:t>Scored on the judges' own terms</a:t>
            </a:r>
            <a:endParaRPr sz="1100"/>
          </a:p>
        </p:txBody>
      </p:sp>
      <p:sp>
        <p:nvSpPr>
          <p:cNvPr id="347" name="Google Shape;347;p17"/>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13</a:t>
            </a:r>
            <a:endParaRPr sz="1100"/>
          </a:p>
        </p:txBody>
      </p:sp>
      <p:grpSp>
        <p:nvGrpSpPr>
          <p:cNvPr id="348" name="Google Shape;348;p17"/>
          <p:cNvGrpSpPr/>
          <p:nvPr/>
        </p:nvGrpSpPr>
        <p:grpSpPr>
          <a:xfrm>
            <a:off x="457200" y="1000125"/>
            <a:ext cx="8229750" cy="3714825"/>
            <a:chOff x="0" y="0"/>
            <a:chExt cx="8229750" cy="3714825"/>
          </a:xfrm>
        </p:grpSpPr>
        <p:sp>
          <p:nvSpPr>
            <p:cNvPr id="349" name="Google Shape;349;p17"/>
            <p:cNvSpPr/>
            <p:nvPr/>
          </p:nvSpPr>
          <p:spPr>
            <a:xfrm>
              <a:off x="0" y="0"/>
              <a:ext cx="8229600" cy="381000"/>
            </a:xfrm>
            <a:prstGeom prst="rect">
              <a:avLst/>
            </a:prstGeom>
            <a:solidFill>
              <a:srgbClr val="E8E3D3"/>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17"/>
            <p:cNvSpPr txBox="1"/>
            <p:nvPr/>
          </p:nvSpPr>
          <p:spPr>
            <a:xfrm>
              <a:off x="0" y="0"/>
              <a:ext cx="3905400" cy="3810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 sz="1000">
                  <a:solidFill>
                    <a:srgbClr val="16181C"/>
                  </a:solidFill>
                  <a:latin typeface="Consolas"/>
                  <a:ea typeface="Consolas"/>
                  <a:cs typeface="Consolas"/>
                  <a:sym typeface="Consolas"/>
                </a:rPr>
                <a:t>JUDGE ASKS FOR</a:t>
              </a:r>
              <a:endParaRPr b="1" sz="1000">
                <a:solidFill>
                  <a:srgbClr val="16181C"/>
                </a:solidFill>
                <a:latin typeface="Consolas"/>
                <a:ea typeface="Consolas"/>
                <a:cs typeface="Consolas"/>
                <a:sym typeface="Consolas"/>
              </a:endParaRPr>
            </a:p>
          </p:txBody>
        </p:sp>
        <p:sp>
          <p:nvSpPr>
            <p:cNvPr id="351" name="Google Shape;351;p17"/>
            <p:cNvSpPr txBox="1"/>
            <p:nvPr/>
          </p:nvSpPr>
          <p:spPr>
            <a:xfrm>
              <a:off x="4095750" y="0"/>
              <a:ext cx="3905400" cy="3810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 sz="1000">
                  <a:solidFill>
                    <a:srgbClr val="16181C"/>
                  </a:solidFill>
                  <a:latin typeface="Consolas"/>
                  <a:ea typeface="Consolas"/>
                  <a:cs typeface="Consolas"/>
                  <a:sym typeface="Consolas"/>
                </a:rPr>
                <a:t>THIS REPO'S ANSWER</a:t>
              </a:r>
              <a:endParaRPr b="1" sz="1000">
                <a:solidFill>
                  <a:srgbClr val="16181C"/>
                </a:solidFill>
                <a:latin typeface="Consolas"/>
                <a:ea typeface="Consolas"/>
                <a:cs typeface="Consolas"/>
                <a:sym typeface="Consolas"/>
              </a:endParaRPr>
            </a:p>
          </p:txBody>
        </p:sp>
        <p:grpSp>
          <p:nvGrpSpPr>
            <p:cNvPr id="352" name="Google Shape;352;p17"/>
            <p:cNvGrpSpPr/>
            <p:nvPr/>
          </p:nvGrpSpPr>
          <p:grpSpPr>
            <a:xfrm>
              <a:off x="0" y="428625"/>
              <a:ext cx="8229750" cy="619200"/>
              <a:chOff x="0" y="0"/>
              <a:chExt cx="8229750" cy="619200"/>
            </a:xfrm>
          </p:grpSpPr>
          <p:sp>
            <p:nvSpPr>
              <p:cNvPr id="353" name="Google Shape;353;p17"/>
              <p:cNvSpPr/>
              <p:nvPr/>
            </p:nvSpPr>
            <p:spPr>
              <a:xfrm>
                <a:off x="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17"/>
              <p:cNvSpPr txBox="1"/>
              <p:nvPr/>
            </p:nvSpPr>
            <p:spPr>
              <a:xfrm>
                <a:off x="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Anomaly detection rate / FPR</a:t>
                </a:r>
                <a:endParaRPr b="1" sz="1100">
                  <a:solidFill>
                    <a:srgbClr val="16181C"/>
                  </a:solidFill>
                  <a:latin typeface="Georgia"/>
                  <a:ea typeface="Georgia"/>
                  <a:cs typeface="Georgia"/>
                  <a:sym typeface="Georgia"/>
                </a:endParaRPr>
              </a:p>
            </p:txBody>
          </p:sp>
          <p:sp>
            <p:nvSpPr>
              <p:cNvPr id="355" name="Google Shape;355;p17"/>
              <p:cNvSpPr/>
              <p:nvPr/>
            </p:nvSpPr>
            <p:spPr>
              <a:xfrm>
                <a:off x="421005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17"/>
              <p:cNvSpPr txBox="1"/>
              <p:nvPr/>
            </p:nvSpPr>
            <p:spPr>
              <a:xfrm>
                <a:off x="421005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0" lang="en" sz="1100">
                    <a:solidFill>
                      <a:srgbClr val="16181C"/>
                    </a:solidFill>
                    <a:latin typeface="Georgia"/>
                    <a:ea typeface="Georgia"/>
                    <a:cs typeface="Georgia"/>
                    <a:sym typeface="Georgia"/>
                  </a:rPr>
                  <a:t>ROC-AUC 0.867,</a:t>
                </a:r>
                <a:br>
                  <a:rPr b="0" lang="en" sz="1100">
                    <a:solidFill>
                      <a:srgbClr val="16181C"/>
                    </a:solidFill>
                    <a:latin typeface="Georgia"/>
                    <a:ea typeface="Georgia"/>
                    <a:cs typeface="Georgia"/>
                    <a:sym typeface="Georgia"/>
                  </a:rPr>
                </a:br>
                <a:r>
                  <a:rPr b="0" lang="en" sz="1100">
                    <a:solidFill>
                      <a:srgbClr val="16181C"/>
                    </a:solidFill>
                    <a:latin typeface="Georgia"/>
                    <a:ea typeface="Georgia"/>
                    <a:cs typeface="Georgia"/>
                    <a:sym typeface="Georgia"/>
                  </a:rPr>
                  <a:t>recall/FPR table</a:t>
                </a:r>
                <a:endParaRPr b="0" sz="1100">
                  <a:solidFill>
                    <a:srgbClr val="16181C"/>
                  </a:solidFill>
                  <a:latin typeface="Georgia"/>
                  <a:ea typeface="Georgia"/>
                  <a:cs typeface="Georgia"/>
                  <a:sym typeface="Georgia"/>
                </a:endParaRPr>
              </a:p>
            </p:txBody>
          </p:sp>
        </p:grpSp>
        <p:grpSp>
          <p:nvGrpSpPr>
            <p:cNvPr id="357" name="Google Shape;357;p17"/>
            <p:cNvGrpSpPr/>
            <p:nvPr/>
          </p:nvGrpSpPr>
          <p:grpSpPr>
            <a:xfrm>
              <a:off x="0" y="1095375"/>
              <a:ext cx="8229750" cy="619200"/>
              <a:chOff x="0" y="0"/>
              <a:chExt cx="8229750" cy="619200"/>
            </a:xfrm>
          </p:grpSpPr>
          <p:sp>
            <p:nvSpPr>
              <p:cNvPr id="358" name="Google Shape;358;p17"/>
              <p:cNvSpPr/>
              <p:nvPr/>
            </p:nvSpPr>
            <p:spPr>
              <a:xfrm>
                <a:off x="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17"/>
              <p:cNvSpPr txBox="1"/>
              <p:nvPr/>
            </p:nvSpPr>
            <p:spPr>
              <a:xfrm>
                <a:off x="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APT attribution accuracy at ATT&amp;CK technique level</a:t>
                </a:r>
                <a:endParaRPr b="1" sz="1100">
                  <a:solidFill>
                    <a:srgbClr val="16181C"/>
                  </a:solidFill>
                  <a:latin typeface="Georgia"/>
                  <a:ea typeface="Georgia"/>
                  <a:cs typeface="Georgia"/>
                  <a:sym typeface="Georgia"/>
                </a:endParaRPr>
              </a:p>
            </p:txBody>
          </p:sp>
          <p:sp>
            <p:nvSpPr>
              <p:cNvPr id="360" name="Google Shape;360;p17"/>
              <p:cNvSpPr/>
              <p:nvPr/>
            </p:nvSpPr>
            <p:spPr>
              <a:xfrm>
                <a:off x="421005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17"/>
              <p:cNvSpPr txBox="1"/>
              <p:nvPr/>
            </p:nvSpPr>
            <p:spPr>
              <a:xfrm>
                <a:off x="421005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0" lang="en" sz="1100">
                    <a:solidFill>
                      <a:srgbClr val="16181C"/>
                    </a:solidFill>
                    <a:latin typeface="Georgia"/>
                    <a:ea typeface="Georgia"/>
                    <a:cs typeface="Georgia"/>
                    <a:sym typeface="Georgia"/>
                  </a:rPr>
                  <a:t>Labelled eval set; retrieve-then-cite, no invented IDs</a:t>
                </a:r>
                <a:endParaRPr b="0" sz="1100">
                  <a:solidFill>
                    <a:srgbClr val="16181C"/>
                  </a:solidFill>
                  <a:latin typeface="Georgia"/>
                  <a:ea typeface="Georgia"/>
                  <a:cs typeface="Georgia"/>
                  <a:sym typeface="Georgia"/>
                </a:endParaRPr>
              </a:p>
            </p:txBody>
          </p:sp>
        </p:grpSp>
        <p:grpSp>
          <p:nvGrpSpPr>
            <p:cNvPr id="362" name="Google Shape;362;p17"/>
            <p:cNvGrpSpPr/>
            <p:nvPr/>
          </p:nvGrpSpPr>
          <p:grpSpPr>
            <a:xfrm>
              <a:off x="0" y="1762125"/>
              <a:ext cx="8229750" cy="619200"/>
              <a:chOff x="0" y="0"/>
              <a:chExt cx="8229750" cy="619200"/>
            </a:xfrm>
          </p:grpSpPr>
          <p:sp>
            <p:nvSpPr>
              <p:cNvPr id="363" name="Google Shape;363;p17"/>
              <p:cNvSpPr/>
              <p:nvPr/>
            </p:nvSpPr>
            <p:spPr>
              <a:xfrm>
                <a:off x="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17"/>
              <p:cNvSpPr txBox="1"/>
              <p:nvPr/>
            </p:nvSpPr>
            <p:spPr>
              <a:xfrm>
                <a:off x="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Incident-response automation coverage</a:t>
                </a:r>
                <a:endParaRPr b="1" sz="1100">
                  <a:solidFill>
                    <a:srgbClr val="16181C"/>
                  </a:solidFill>
                  <a:latin typeface="Georgia"/>
                  <a:ea typeface="Georgia"/>
                  <a:cs typeface="Georgia"/>
                  <a:sym typeface="Georgia"/>
                </a:endParaRPr>
              </a:p>
            </p:txBody>
          </p:sp>
          <p:sp>
            <p:nvSpPr>
              <p:cNvPr id="365" name="Google Shape;365;p17"/>
              <p:cNvSpPr/>
              <p:nvPr/>
            </p:nvSpPr>
            <p:spPr>
              <a:xfrm>
                <a:off x="421005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17"/>
              <p:cNvSpPr txBox="1"/>
              <p:nvPr/>
            </p:nvSpPr>
            <p:spPr>
              <a:xfrm>
                <a:off x="421005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0" lang="en" sz="1100">
                    <a:solidFill>
                      <a:srgbClr val="16181C"/>
                    </a:solidFill>
                    <a:latin typeface="Georgia"/>
                    <a:ea typeface="Georgia"/>
                    <a:cs typeface="Georgia"/>
                    <a:sym typeface="Georgia"/>
                  </a:rPr>
                  <a:t>autonomous_steps / total_steps, live on dashboard</a:t>
                </a:r>
                <a:endParaRPr b="0" sz="1100">
                  <a:solidFill>
                    <a:srgbClr val="16181C"/>
                  </a:solidFill>
                  <a:latin typeface="Georgia"/>
                  <a:ea typeface="Georgia"/>
                  <a:cs typeface="Georgia"/>
                  <a:sym typeface="Georgia"/>
                </a:endParaRPr>
              </a:p>
            </p:txBody>
          </p:sp>
        </p:grpSp>
        <p:grpSp>
          <p:nvGrpSpPr>
            <p:cNvPr id="367" name="Google Shape;367;p17"/>
            <p:cNvGrpSpPr/>
            <p:nvPr/>
          </p:nvGrpSpPr>
          <p:grpSpPr>
            <a:xfrm>
              <a:off x="0" y="2428875"/>
              <a:ext cx="8229750" cy="619200"/>
              <a:chOff x="0" y="0"/>
              <a:chExt cx="8229750" cy="619200"/>
            </a:xfrm>
          </p:grpSpPr>
          <p:sp>
            <p:nvSpPr>
              <p:cNvPr id="368" name="Google Shape;368;p17"/>
              <p:cNvSpPr/>
              <p:nvPr/>
            </p:nvSpPr>
            <p:spPr>
              <a:xfrm>
                <a:off x="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7"/>
              <p:cNvSpPr txBox="1"/>
              <p:nvPr/>
            </p:nvSpPr>
            <p:spPr>
              <a:xfrm>
                <a:off x="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1" lang="en" sz="1100">
                    <a:solidFill>
                      <a:srgbClr val="16181C"/>
                    </a:solidFill>
                    <a:latin typeface="Georgia"/>
                    <a:ea typeface="Georgia"/>
                    <a:cs typeface="Georgia"/>
                    <a:sym typeface="Georgia"/>
                  </a:rPr>
                  <a:t>MTTD/MTTR vs. baseline SOC</a:t>
                </a:r>
                <a:endParaRPr b="1" sz="1100">
                  <a:solidFill>
                    <a:srgbClr val="16181C"/>
                  </a:solidFill>
                  <a:latin typeface="Georgia"/>
                  <a:ea typeface="Georgia"/>
                  <a:cs typeface="Georgia"/>
                  <a:sym typeface="Georgia"/>
                </a:endParaRPr>
              </a:p>
            </p:txBody>
          </p:sp>
          <p:sp>
            <p:nvSpPr>
              <p:cNvPr id="370" name="Google Shape;370;p17"/>
              <p:cNvSpPr/>
              <p:nvPr/>
            </p:nvSpPr>
            <p:spPr>
              <a:xfrm>
                <a:off x="4210050" y="0"/>
                <a:ext cx="4019700" cy="619200"/>
              </a:xfrm>
              <a:prstGeom prst="rect">
                <a:avLst/>
              </a:prstGeom>
              <a:solidFill>
                <a:srgbClr val="FFFFFF"/>
              </a:solidFill>
              <a:ln cap="flat" cmpd="sng" w="9525">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17"/>
              <p:cNvSpPr txBox="1"/>
              <p:nvPr/>
            </p:nvSpPr>
            <p:spPr>
              <a:xfrm>
                <a:off x="421005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0" lang="en" sz="1100">
                    <a:solidFill>
                      <a:srgbClr val="16181C"/>
                    </a:solidFill>
                    <a:latin typeface="Georgia"/>
                    <a:ea typeface="Georgia"/>
                    <a:cs typeface="Georgia"/>
                    <a:sym typeface="Georgia"/>
                  </a:rPr>
                  <a:t>deviation decision simulated containment</a:t>
                </a:r>
                <a:endParaRPr b="0" sz="1100">
                  <a:solidFill>
                    <a:srgbClr val="16181C"/>
                  </a:solidFill>
                  <a:latin typeface="Georgia"/>
                  <a:ea typeface="Georgia"/>
                  <a:cs typeface="Georgia"/>
                  <a:sym typeface="Georgia"/>
                </a:endParaRPr>
              </a:p>
            </p:txBody>
          </p:sp>
        </p:grpSp>
        <p:grpSp>
          <p:nvGrpSpPr>
            <p:cNvPr id="372" name="Google Shape;372;p17"/>
            <p:cNvGrpSpPr/>
            <p:nvPr/>
          </p:nvGrpSpPr>
          <p:grpSpPr>
            <a:xfrm>
              <a:off x="0" y="3095625"/>
              <a:ext cx="8229750" cy="619200"/>
              <a:chOff x="0" y="0"/>
              <a:chExt cx="8229750" cy="619200"/>
            </a:xfrm>
          </p:grpSpPr>
          <p:sp>
            <p:nvSpPr>
              <p:cNvPr id="373" name="Google Shape;373;p17"/>
              <p:cNvSpPr/>
              <p:nvPr/>
            </p:nvSpPr>
            <p:spPr>
              <a:xfrm>
                <a:off x="0" y="0"/>
                <a:ext cx="4019700" cy="619200"/>
              </a:xfrm>
              <a:prstGeom prst="rect">
                <a:avLst/>
              </a:prstGeom>
              <a:solidFill>
                <a:srgbClr val="FCE8E6"/>
              </a:solidFill>
              <a:ln cap="flat" cmpd="sng" w="1905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17"/>
              <p:cNvSpPr txBox="1"/>
              <p:nvPr/>
            </p:nvSpPr>
            <p:spPr>
              <a:xfrm>
                <a:off x="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1" lang="en" sz="1100">
                    <a:solidFill>
                      <a:srgbClr val="B3261E"/>
                    </a:solidFill>
                    <a:latin typeface="Georgia"/>
                    <a:ea typeface="Georgia"/>
                    <a:cs typeface="Georgia"/>
                    <a:sym typeface="Georgia"/>
                  </a:rPr>
                  <a:t>Full auditability of every automated action</a:t>
                </a:r>
                <a:endParaRPr b="1" sz="1100">
                  <a:solidFill>
                    <a:srgbClr val="B3261E"/>
                  </a:solidFill>
                  <a:latin typeface="Georgia"/>
                  <a:ea typeface="Georgia"/>
                  <a:cs typeface="Georgia"/>
                  <a:sym typeface="Georgia"/>
                </a:endParaRPr>
              </a:p>
            </p:txBody>
          </p:sp>
          <p:sp>
            <p:nvSpPr>
              <p:cNvPr id="375" name="Google Shape;375;p17"/>
              <p:cNvSpPr/>
              <p:nvPr/>
            </p:nvSpPr>
            <p:spPr>
              <a:xfrm>
                <a:off x="4210050" y="0"/>
                <a:ext cx="4019700" cy="619200"/>
              </a:xfrm>
              <a:prstGeom prst="rect">
                <a:avLst/>
              </a:prstGeom>
              <a:solidFill>
                <a:srgbClr val="FCE8E6"/>
              </a:solidFill>
              <a:ln cap="flat" cmpd="sng" w="1905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17"/>
              <p:cNvSpPr txBox="1"/>
              <p:nvPr/>
            </p:nvSpPr>
            <p:spPr>
              <a:xfrm>
                <a:off x="4210050" y="0"/>
                <a:ext cx="4019700" cy="619200"/>
              </a:xfrm>
              <a:prstGeom prst="rect">
                <a:avLst/>
              </a:prstGeom>
              <a:noFill/>
              <a:ln>
                <a:noFill/>
              </a:ln>
            </p:spPr>
            <p:txBody>
              <a:bodyPr anchorCtr="0" anchor="ctr" bIns="0" lIns="142875" spcFirstLastPara="1" rIns="142875" wrap="square" tIns="0">
                <a:noAutofit/>
              </a:bodyPr>
              <a:lstStyle/>
              <a:p>
                <a:pPr indent="0" lvl="0" marL="0" rtl="0" algn="l">
                  <a:spcBef>
                    <a:spcPts val="0"/>
                  </a:spcBef>
                  <a:spcAft>
                    <a:spcPts val="0"/>
                  </a:spcAft>
                  <a:buNone/>
                </a:pPr>
                <a:r>
                  <a:rPr b="0" lang="en" sz="1100">
                    <a:solidFill>
                      <a:srgbClr val="B3261E"/>
                    </a:solidFill>
                    <a:latin typeface="Georgia"/>
                    <a:ea typeface="Georgia"/>
                    <a:cs typeface="Georgia"/>
                    <a:sym typeface="Georgia"/>
                  </a:rPr>
                  <a:t>Hash-chained JSONL audit log, re-verified client-side</a:t>
                </a:r>
                <a:endParaRPr b="0" sz="1100">
                  <a:solidFill>
                    <a:srgbClr val="B3261E"/>
                  </a:solidFill>
                  <a:latin typeface="Georgia"/>
                  <a:ea typeface="Georgia"/>
                  <a:cs typeface="Georgia"/>
                  <a:sym typeface="Georgia"/>
                </a:endParaRPr>
              </a:p>
            </p:txBody>
          </p:sp>
        </p:grpSp>
      </p:grpSp>
      <p:sp>
        <p:nvSpPr>
          <p:cNvPr id="377" name="Google Shape;377;p17"/>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378" name="Google Shape;378;p17"/>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8"/>
          <p:cNvSpPr/>
          <p:nvPr/>
        </p:nvSpPr>
        <p:spPr>
          <a:xfrm>
            <a:off x="457200" y="514350"/>
            <a:ext cx="8229600" cy="7144"/>
          </a:xfrm>
          <a:custGeom>
            <a:rect b="b" l="l" r="r" t="t"/>
            <a:pathLst>
              <a:path extrusionOk="0" h="9525" w="10972800">
                <a:moveTo>
                  <a:pt x="0" y="0"/>
                </a:moveTo>
                <a:lnTo>
                  <a:pt x="10972800" y="0"/>
                </a:lnTo>
              </a:path>
            </a:pathLst>
          </a:custGeom>
          <a:noFill/>
          <a:ln cap="flat" cmpd="sng" w="19050">
            <a:solidFill>
              <a:schemeClr val="accent4"/>
            </a:solidFill>
            <a:prstDash val="solid"/>
            <a:round/>
            <a:headEnd len="sm" w="sm" type="none"/>
            <a:tailEnd len="sm" w="sm" type="none"/>
          </a:ln>
        </p:spPr>
      </p:sp>
      <p:sp>
        <p:nvSpPr>
          <p:cNvPr id="384" name="Google Shape;384;p18"/>
          <p:cNvSpPr txBox="1"/>
          <p:nvPr/>
        </p:nvSpPr>
        <p:spPr>
          <a:xfrm>
            <a:off x="8531723" y="319326"/>
            <a:ext cx="1602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 sz="1000">
                <a:solidFill>
                  <a:schemeClr val="accent5"/>
                </a:solidFill>
                <a:latin typeface="Consolas"/>
                <a:ea typeface="Consolas"/>
                <a:cs typeface="Consolas"/>
                <a:sym typeface="Consolas"/>
              </a:rPr>
              <a:t>15</a:t>
            </a:r>
            <a:endParaRPr sz="1100"/>
          </a:p>
        </p:txBody>
      </p:sp>
      <p:sp>
        <p:nvSpPr>
          <p:cNvPr id="385" name="Google Shape;385;p18"/>
          <p:cNvSpPr txBox="1"/>
          <p:nvPr/>
        </p:nvSpPr>
        <p:spPr>
          <a:xfrm>
            <a:off x="457200" y="714375"/>
            <a:ext cx="8229600" cy="455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960">
                <a:solidFill>
                  <a:srgbClr val="16181C"/>
                </a:solidFill>
                <a:latin typeface="Impact"/>
                <a:ea typeface="Impact"/>
                <a:cs typeface="Impact"/>
                <a:sym typeface="Impact"/>
              </a:rPr>
              <a:t>The turn this pipeline makes</a:t>
            </a:r>
            <a:endParaRPr b="0" sz="2960">
              <a:solidFill>
                <a:srgbClr val="16181C"/>
              </a:solidFill>
              <a:latin typeface="Impact"/>
              <a:ea typeface="Impact"/>
              <a:cs typeface="Impact"/>
              <a:sym typeface="Impact"/>
            </a:endParaRPr>
          </a:p>
        </p:txBody>
      </p:sp>
      <p:grpSp>
        <p:nvGrpSpPr>
          <p:cNvPr id="386" name="Google Shape;386;p18"/>
          <p:cNvGrpSpPr/>
          <p:nvPr/>
        </p:nvGrpSpPr>
        <p:grpSpPr>
          <a:xfrm>
            <a:off x="457200" y="1190625"/>
            <a:ext cx="8229600" cy="381000"/>
            <a:chOff x="0" y="0"/>
            <a:chExt cx="8229600" cy="381000"/>
          </a:xfrm>
        </p:grpSpPr>
        <p:sp>
          <p:nvSpPr>
            <p:cNvPr id="387" name="Google Shape;387;p18"/>
            <p:cNvSpPr/>
            <p:nvPr/>
          </p:nvSpPr>
          <p:spPr>
            <a:xfrm>
              <a:off x="0" y="0"/>
              <a:ext cx="8229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18"/>
            <p:cNvSpPr txBox="1"/>
            <p:nvPr/>
          </p:nvSpPr>
          <p:spPr>
            <a:xfrm>
              <a:off x="0" y="0"/>
              <a:ext cx="8229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295">
                  <a:solidFill>
                    <a:srgbClr val="3F4247"/>
                  </a:solidFill>
                  <a:latin typeface="Georgia"/>
                  <a:ea typeface="Georgia"/>
                  <a:cs typeface="Georgia"/>
                  <a:sym typeface="Georgia"/>
                </a:rPr>
                <a:t>The same 1.59 million incidents a year, met by a pipeline that goes from deviation to decision in seconds.</a:t>
              </a:r>
              <a:endParaRPr b="0" i="1" sz="1295">
                <a:solidFill>
                  <a:srgbClr val="3F4247"/>
                </a:solidFill>
                <a:latin typeface="Georgia"/>
                <a:ea typeface="Georgia"/>
                <a:cs typeface="Georgia"/>
                <a:sym typeface="Georgia"/>
              </a:endParaRPr>
            </a:p>
          </p:txBody>
        </p:sp>
      </p:grpSp>
      <p:grpSp>
        <p:nvGrpSpPr>
          <p:cNvPr id="389" name="Google Shape;389;p18"/>
          <p:cNvGrpSpPr/>
          <p:nvPr/>
        </p:nvGrpSpPr>
        <p:grpSpPr>
          <a:xfrm>
            <a:off x="457200" y="1762125"/>
            <a:ext cx="2476500" cy="2667000"/>
            <a:chOff x="0" y="0"/>
            <a:chExt cx="2476500" cy="2667000"/>
          </a:xfrm>
        </p:grpSpPr>
        <p:sp>
          <p:nvSpPr>
            <p:cNvPr id="390" name="Google Shape;390;p18"/>
            <p:cNvSpPr/>
            <p:nvPr/>
          </p:nvSpPr>
          <p:spPr>
            <a:xfrm>
              <a:off x="0" y="0"/>
              <a:ext cx="2476500" cy="26670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18"/>
            <p:cNvSpPr/>
            <p:nvPr/>
          </p:nvSpPr>
          <p:spPr>
            <a:xfrm>
              <a:off x="0" y="0"/>
              <a:ext cx="57300" cy="26670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18"/>
            <p:cNvSpPr txBox="1"/>
            <p:nvPr/>
          </p:nvSpPr>
          <p:spPr>
            <a:xfrm>
              <a:off x="190500" y="190500"/>
              <a:ext cx="20955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DEVIATION / 01</a:t>
              </a:r>
              <a:endParaRPr b="1" sz="1000">
                <a:solidFill>
                  <a:srgbClr val="6B6E73"/>
                </a:solidFill>
                <a:latin typeface="Consolas"/>
                <a:ea typeface="Consolas"/>
                <a:cs typeface="Consolas"/>
                <a:sym typeface="Consolas"/>
              </a:endParaRPr>
            </a:p>
            <a:p>
              <a:pPr indent="0" lvl="0" marL="0" rtl="0" algn="l">
                <a:spcBef>
                  <a:spcPts val="375"/>
                </a:spcBef>
                <a:spcAft>
                  <a:spcPts val="0"/>
                </a:spcAft>
                <a:buNone/>
              </a:pPr>
              <a:r>
                <a:rPr b="0" lang="en" sz="1600">
                  <a:solidFill>
                    <a:srgbClr val="16181C"/>
                  </a:solidFill>
                  <a:latin typeface="Impact"/>
                  <a:ea typeface="Impact"/>
                  <a:cs typeface="Impact"/>
                  <a:sym typeface="Impact"/>
                </a:rPr>
                <a:t>1.59 Million</a:t>
              </a:r>
              <a:endParaRPr b="0" sz="1600">
                <a:solidFill>
                  <a:srgbClr val="16181C"/>
                </a:solidFill>
                <a:latin typeface="Impact"/>
                <a:ea typeface="Impact"/>
                <a:cs typeface="Impact"/>
                <a:sym typeface="Impact"/>
              </a:endParaRPr>
            </a:p>
            <a:p>
              <a:pPr indent="0" lvl="0" marL="0" rtl="0" algn="l">
                <a:spcBef>
                  <a:spcPts val="150"/>
                </a:spcBef>
                <a:spcAft>
                  <a:spcPts val="0"/>
                </a:spcAft>
                <a:buNone/>
              </a:pPr>
              <a:r>
                <a:rPr i="1" lang="en" sz="1100">
                  <a:solidFill>
                    <a:srgbClr val="6B6E73"/>
                  </a:solidFill>
                  <a:latin typeface="Georgia"/>
                  <a:ea typeface="Georgia"/>
                  <a:cs typeface="Georgia"/>
                  <a:sym typeface="Georgia"/>
                </a:rPr>
                <a:t>Annual Incidents</a:t>
              </a:r>
              <a:endParaRPr i="1" sz="1100">
                <a:solidFill>
                  <a:srgbClr val="6B6E73"/>
                </a:solidFill>
                <a:latin typeface="Georgia"/>
                <a:ea typeface="Georgia"/>
                <a:cs typeface="Georgia"/>
                <a:sym typeface="Georgia"/>
              </a:endParaRPr>
            </a:p>
            <a:p>
              <a:pPr indent="0" lvl="0" marL="0" rtl="0" algn="l">
                <a:spcBef>
                  <a:spcPts val="0"/>
                </a:spcBef>
                <a:spcAft>
                  <a:spcPts val="0"/>
                </a:spcAft>
                <a:buNone/>
              </a:pPr>
              <a:r>
                <a:rPr lang="en" sz="1100">
                  <a:solidFill>
                    <a:srgbClr val="3F4247"/>
                  </a:solidFill>
                  <a:latin typeface="Georgia"/>
                  <a:ea typeface="Georgia"/>
                  <a:cs typeface="Georgia"/>
                  <a:sym typeface="Georgia"/>
                </a:rPr>
                <a:t>The baseline scale of noise and alerts processed by the pipeline at ingestion.</a:t>
              </a:r>
              <a:endParaRPr sz="1100">
                <a:solidFill>
                  <a:srgbClr val="3F4247"/>
                </a:solidFill>
                <a:latin typeface="Georgia"/>
                <a:ea typeface="Georgia"/>
                <a:cs typeface="Georgia"/>
                <a:sym typeface="Georgia"/>
              </a:endParaRPr>
            </a:p>
          </p:txBody>
        </p:sp>
      </p:grpSp>
      <p:grpSp>
        <p:nvGrpSpPr>
          <p:cNvPr id="393" name="Google Shape;393;p18"/>
          <p:cNvGrpSpPr/>
          <p:nvPr/>
        </p:nvGrpSpPr>
        <p:grpSpPr>
          <a:xfrm>
            <a:off x="3333750" y="1762125"/>
            <a:ext cx="2476500" cy="2667000"/>
            <a:chOff x="0" y="0"/>
            <a:chExt cx="2476500" cy="2667000"/>
          </a:xfrm>
        </p:grpSpPr>
        <p:sp>
          <p:nvSpPr>
            <p:cNvPr id="394" name="Google Shape;394;p18"/>
            <p:cNvSpPr/>
            <p:nvPr/>
          </p:nvSpPr>
          <p:spPr>
            <a:xfrm>
              <a:off x="0" y="0"/>
              <a:ext cx="2476500" cy="26670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18"/>
            <p:cNvSpPr txBox="1"/>
            <p:nvPr/>
          </p:nvSpPr>
          <p:spPr>
            <a:xfrm>
              <a:off x="190500" y="190500"/>
              <a:ext cx="20955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DECISION / 02</a:t>
              </a:r>
              <a:endParaRPr b="1" sz="1000">
                <a:solidFill>
                  <a:srgbClr val="6B6E73"/>
                </a:solidFill>
                <a:latin typeface="Consolas"/>
                <a:ea typeface="Consolas"/>
                <a:cs typeface="Consolas"/>
                <a:sym typeface="Consolas"/>
              </a:endParaRPr>
            </a:p>
            <a:p>
              <a:pPr indent="0" lvl="0" marL="0" rtl="0" algn="l">
                <a:spcBef>
                  <a:spcPts val="375"/>
                </a:spcBef>
                <a:spcAft>
                  <a:spcPts val="0"/>
                </a:spcAft>
                <a:buNone/>
              </a:pPr>
              <a:r>
                <a:rPr b="0" lang="en" sz="1600">
                  <a:solidFill>
                    <a:srgbClr val="16181C"/>
                  </a:solidFill>
                  <a:latin typeface="Impact"/>
                  <a:ea typeface="Impact"/>
                  <a:cs typeface="Impact"/>
                  <a:sym typeface="Impact"/>
                </a:rPr>
                <a:t>Seconds</a:t>
              </a:r>
              <a:endParaRPr b="0" sz="1600">
                <a:solidFill>
                  <a:srgbClr val="16181C"/>
                </a:solidFill>
                <a:latin typeface="Impact"/>
                <a:ea typeface="Impact"/>
                <a:cs typeface="Impact"/>
                <a:sym typeface="Impact"/>
              </a:endParaRPr>
            </a:p>
            <a:p>
              <a:pPr indent="0" lvl="0" marL="0" rtl="0" algn="l">
                <a:spcBef>
                  <a:spcPts val="150"/>
                </a:spcBef>
                <a:spcAft>
                  <a:spcPts val="0"/>
                </a:spcAft>
                <a:buNone/>
              </a:pPr>
              <a:r>
                <a:rPr i="1" lang="en" sz="1100">
                  <a:solidFill>
                    <a:srgbClr val="6B6E73"/>
                  </a:solidFill>
                  <a:latin typeface="Georgia"/>
                  <a:ea typeface="Georgia"/>
                  <a:cs typeface="Georgia"/>
                  <a:sym typeface="Georgia"/>
                </a:rPr>
                <a:t>vs. Weeks of SOC</a:t>
              </a:r>
              <a:endParaRPr i="1" sz="1100">
                <a:solidFill>
                  <a:srgbClr val="6B6E73"/>
                </a:solidFill>
                <a:latin typeface="Georgia"/>
                <a:ea typeface="Georgia"/>
                <a:cs typeface="Georgia"/>
                <a:sym typeface="Georgia"/>
              </a:endParaRPr>
            </a:p>
            <a:p>
              <a:pPr indent="0" lvl="0" marL="0" rtl="0" algn="l">
                <a:spcBef>
                  <a:spcPts val="0"/>
                </a:spcBef>
                <a:spcAft>
                  <a:spcPts val="0"/>
                </a:spcAft>
                <a:buNone/>
              </a:pPr>
              <a:r>
                <a:rPr lang="en" sz="1100">
                  <a:solidFill>
                    <a:srgbClr val="3F4247"/>
                  </a:solidFill>
                  <a:latin typeface="Georgia"/>
                  <a:ea typeface="Georgia"/>
                  <a:cs typeface="Georgia"/>
                  <a:sym typeface="Georgia"/>
                </a:rPr>
                <a:t>Decisioning happens instantly in the pipeline, completely bypassing manual investigation delays.</a:t>
              </a:r>
              <a:endParaRPr sz="1100">
                <a:solidFill>
                  <a:srgbClr val="3F4247"/>
                </a:solidFill>
                <a:latin typeface="Georgia"/>
                <a:ea typeface="Georgia"/>
                <a:cs typeface="Georgia"/>
                <a:sym typeface="Georgia"/>
              </a:endParaRPr>
            </a:p>
          </p:txBody>
        </p:sp>
      </p:grpSp>
      <p:grpSp>
        <p:nvGrpSpPr>
          <p:cNvPr id="396" name="Google Shape;396;p18"/>
          <p:cNvGrpSpPr/>
          <p:nvPr/>
        </p:nvGrpSpPr>
        <p:grpSpPr>
          <a:xfrm>
            <a:off x="6210300" y="1762125"/>
            <a:ext cx="2476500" cy="2667000"/>
            <a:chOff x="0" y="0"/>
            <a:chExt cx="2476500" cy="2667000"/>
          </a:xfrm>
        </p:grpSpPr>
        <p:sp>
          <p:nvSpPr>
            <p:cNvPr id="397" name="Google Shape;397;p18"/>
            <p:cNvSpPr/>
            <p:nvPr/>
          </p:nvSpPr>
          <p:spPr>
            <a:xfrm>
              <a:off x="0" y="0"/>
              <a:ext cx="2476500" cy="26670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18"/>
            <p:cNvSpPr txBox="1"/>
            <p:nvPr/>
          </p:nvSpPr>
          <p:spPr>
            <a:xfrm>
              <a:off x="190500" y="190500"/>
              <a:ext cx="20955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6B6E73"/>
                  </a:solidFill>
                  <a:latin typeface="Consolas"/>
                  <a:ea typeface="Consolas"/>
                  <a:cs typeface="Consolas"/>
                  <a:sym typeface="Consolas"/>
                </a:rPr>
                <a:t>CONTAINMENT / 03</a:t>
              </a:r>
              <a:endParaRPr b="1" sz="1000">
                <a:solidFill>
                  <a:srgbClr val="6B6E73"/>
                </a:solidFill>
                <a:latin typeface="Consolas"/>
                <a:ea typeface="Consolas"/>
                <a:cs typeface="Consolas"/>
                <a:sym typeface="Consolas"/>
              </a:endParaRPr>
            </a:p>
            <a:p>
              <a:pPr indent="0" lvl="0" marL="0" rtl="0" algn="l">
                <a:spcBef>
                  <a:spcPts val="375"/>
                </a:spcBef>
                <a:spcAft>
                  <a:spcPts val="0"/>
                </a:spcAft>
                <a:buNone/>
              </a:pPr>
              <a:r>
                <a:rPr b="0" lang="en" sz="1600">
                  <a:solidFill>
                    <a:srgbClr val="16181C"/>
                  </a:solidFill>
                  <a:latin typeface="Impact"/>
                  <a:ea typeface="Impact"/>
                  <a:cs typeface="Impact"/>
                  <a:sym typeface="Impact"/>
                </a:rPr>
                <a:t>Verified</a:t>
              </a:r>
              <a:endParaRPr b="0" sz="1600">
                <a:solidFill>
                  <a:srgbClr val="16181C"/>
                </a:solidFill>
                <a:latin typeface="Impact"/>
                <a:ea typeface="Impact"/>
                <a:cs typeface="Impact"/>
                <a:sym typeface="Impact"/>
              </a:endParaRPr>
            </a:p>
            <a:p>
              <a:pPr indent="0" lvl="0" marL="0" rtl="0" algn="l">
                <a:spcBef>
                  <a:spcPts val="150"/>
                </a:spcBef>
                <a:spcAft>
                  <a:spcPts val="0"/>
                </a:spcAft>
                <a:buNone/>
              </a:pPr>
              <a:r>
                <a:rPr i="1" lang="en" sz="1100">
                  <a:solidFill>
                    <a:srgbClr val="6B6E73"/>
                  </a:solidFill>
                  <a:latin typeface="Georgia"/>
                  <a:ea typeface="Georgia"/>
                  <a:cs typeface="Georgia"/>
                  <a:sym typeface="Georgia"/>
                </a:rPr>
                <a:t>Hash-Chained Trust</a:t>
              </a:r>
              <a:endParaRPr i="1" sz="1100">
                <a:solidFill>
                  <a:srgbClr val="6B6E73"/>
                </a:solidFill>
                <a:latin typeface="Georgia"/>
                <a:ea typeface="Georgia"/>
                <a:cs typeface="Georgia"/>
                <a:sym typeface="Georgia"/>
              </a:endParaRPr>
            </a:p>
            <a:p>
              <a:pPr indent="0" lvl="0" marL="0" rtl="0" algn="l">
                <a:spcBef>
                  <a:spcPts val="0"/>
                </a:spcBef>
                <a:spcAft>
                  <a:spcPts val="0"/>
                </a:spcAft>
                <a:buNone/>
              </a:pPr>
              <a:r>
                <a:rPr lang="en" sz="1100">
                  <a:solidFill>
                    <a:srgbClr val="3F4247"/>
                  </a:solidFill>
                  <a:latin typeface="Georgia"/>
                  <a:ea typeface="Georgia"/>
                  <a:cs typeface="Georgia"/>
                  <a:sym typeface="Georgia"/>
                </a:rPr>
                <a:t>Every processing second is cryptographically chained and independently re-verifiable.</a:t>
              </a:r>
              <a:endParaRPr sz="1100">
                <a:solidFill>
                  <a:srgbClr val="3F4247"/>
                </a:solidFill>
                <a:latin typeface="Georgia"/>
                <a:ea typeface="Georgia"/>
                <a:cs typeface="Georgia"/>
                <a:sym typeface="Georgia"/>
              </a:endParaRPr>
            </a:p>
          </p:txBody>
        </p:sp>
      </p:grpSp>
      <p:sp>
        <p:nvSpPr>
          <p:cNvPr id="399" name="Google Shape;399;p18"/>
          <p:cNvSpPr/>
          <p:nvPr/>
        </p:nvSpPr>
        <p:spPr>
          <a:xfrm>
            <a:off x="457200" y="4800600"/>
            <a:ext cx="8229600" cy="7144"/>
          </a:xfrm>
          <a:custGeom>
            <a:rect b="b" l="l" r="r" t="t"/>
            <a:pathLst>
              <a:path extrusionOk="0" h="9525" w="10972800">
                <a:moveTo>
                  <a:pt x="0" y="0"/>
                </a:moveTo>
                <a:lnTo>
                  <a:pt x="10972800" y="0"/>
                </a:lnTo>
              </a:path>
            </a:pathLst>
          </a:custGeom>
          <a:noFill/>
          <a:ln cap="flat" cmpd="sng" w="14275">
            <a:solidFill>
              <a:schemeClr val="accent4"/>
            </a:solidFill>
            <a:prstDash val="solid"/>
            <a:round/>
            <a:headEnd len="sm" w="sm" type="none"/>
            <a:tailEnd len="sm" w="sm" type="none"/>
          </a:ln>
        </p:spPr>
      </p:sp>
      <p:sp>
        <p:nvSpPr>
          <p:cNvPr id="400" name="Google Shape;400;p18"/>
          <p:cNvSpPr txBox="1"/>
          <p:nvPr/>
        </p:nvSpPr>
        <p:spPr>
          <a:xfrm>
            <a:off x="452056" y="4891326"/>
            <a:ext cx="8385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000">
                <a:solidFill>
                  <a:schemeClr val="accent5"/>
                </a:solidFill>
                <a:latin typeface="Consolas"/>
                <a:ea typeface="Consolas"/>
                <a:cs typeface="Consolas"/>
                <a:sym typeface="Consolas"/>
              </a:rPr>
              <a:t>AI-SOC 2026</a:t>
            </a:r>
            <a:endParaRPr sz="1100"/>
          </a:p>
        </p:txBody>
      </p:sp>
    </p:spTree>
  </p:cSld>
  <p:clrMapOvr>
    <a:masterClrMapping/>
  </p:clrMapOvr>
  <mc:AlternateContent>
    <mc:Choice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9"/>
          <p:cNvSpPr/>
          <p:nvPr/>
        </p:nvSpPr>
        <p:spPr>
          <a:xfrm>
            <a:off x="457200" y="514350"/>
            <a:ext cx="8229600" cy="0"/>
          </a:xfrm>
          <a:custGeom>
            <a:rect b="b" l="l" r="r" t="t"/>
            <a:pathLst>
              <a:path extrusionOk="0" h="120000" w="120000">
                <a:moveTo>
                  <a:pt x="0" y="0"/>
                </a:moveTo>
                <a:lnTo>
                  <a:pt x="120000" y="0"/>
                </a:lnTo>
              </a:path>
            </a:pathLst>
          </a:custGeom>
          <a:solidFill>
            <a:srgbClr val="000000">
              <a:alpha val="0"/>
            </a:srgbClr>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19"/>
          <p:cNvSpPr txBox="1"/>
          <p:nvPr/>
        </p:nvSpPr>
        <p:spPr>
          <a:xfrm>
            <a:off x="457200" y="142875"/>
            <a:ext cx="7620000" cy="333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6B6E73"/>
                </a:solidFill>
                <a:latin typeface="Consolas"/>
                <a:ea typeface="Consolas"/>
                <a:cs typeface="Consolas"/>
                <a:sym typeface="Consolas"/>
              </a:rPr>
              <a:t>STATUS REPORT</a:t>
            </a:r>
            <a:endParaRPr b="1" sz="1000">
              <a:solidFill>
                <a:srgbClr val="6B6E73"/>
              </a:solidFill>
              <a:latin typeface="Consolas"/>
              <a:ea typeface="Consolas"/>
              <a:cs typeface="Consolas"/>
              <a:sym typeface="Consolas"/>
            </a:endParaRPr>
          </a:p>
        </p:txBody>
      </p:sp>
      <p:sp>
        <p:nvSpPr>
          <p:cNvPr id="407" name="Google Shape;407;p19"/>
          <p:cNvSpPr txBox="1"/>
          <p:nvPr/>
        </p:nvSpPr>
        <p:spPr>
          <a:xfrm>
            <a:off x="457200" y="619125"/>
            <a:ext cx="82296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960">
                <a:solidFill>
                  <a:srgbClr val="16181C"/>
                </a:solidFill>
                <a:latin typeface="Impact"/>
                <a:ea typeface="Impact"/>
                <a:cs typeface="Impact"/>
                <a:sym typeface="Impact"/>
              </a:rPr>
              <a:t>This already runs end-to-end. Today. Not slideware.</a:t>
            </a:r>
            <a:endParaRPr sz="2960">
              <a:solidFill>
                <a:srgbClr val="16181C"/>
              </a:solidFill>
              <a:latin typeface="Impact"/>
              <a:ea typeface="Impact"/>
              <a:cs typeface="Impact"/>
              <a:sym typeface="Impact"/>
            </a:endParaRPr>
          </a:p>
          <a:p>
            <a:pPr indent="0" lvl="0" marL="0" rtl="0" algn="l">
              <a:spcBef>
                <a:spcPts val="450"/>
              </a:spcBef>
              <a:spcAft>
                <a:spcPts val="0"/>
              </a:spcAft>
              <a:buNone/>
            </a:pPr>
            <a:r>
              <a:rPr i="1" lang="en" sz="1295">
                <a:solidFill>
                  <a:srgbClr val="3F4247"/>
                </a:solidFill>
                <a:latin typeface="Georgia"/>
                <a:ea typeface="Georgia"/>
                <a:cs typeface="Georgia"/>
                <a:sym typeface="Georgia"/>
              </a:rPr>
              <a:t>Detection, attribution, orchestration, and dashboard pillars are built and wired end-to-end.</a:t>
            </a:r>
            <a:endParaRPr i="1" sz="1295">
              <a:solidFill>
                <a:srgbClr val="3F4247"/>
              </a:solidFill>
              <a:latin typeface="Georgia"/>
              <a:ea typeface="Georgia"/>
              <a:cs typeface="Georgia"/>
              <a:sym typeface="Georgia"/>
            </a:endParaRPr>
          </a:p>
        </p:txBody>
      </p:sp>
      <p:grpSp>
        <p:nvGrpSpPr>
          <p:cNvPr id="408" name="Google Shape;408;p19"/>
          <p:cNvGrpSpPr/>
          <p:nvPr/>
        </p:nvGrpSpPr>
        <p:grpSpPr>
          <a:xfrm>
            <a:off x="457200" y="1809750"/>
            <a:ext cx="1866900" cy="2381400"/>
            <a:chOff x="0" y="0"/>
            <a:chExt cx="1866900" cy="2381400"/>
          </a:xfrm>
        </p:grpSpPr>
        <p:sp>
          <p:nvSpPr>
            <p:cNvPr id="409" name="Google Shape;409;p19"/>
            <p:cNvSpPr/>
            <p:nvPr/>
          </p:nvSpPr>
          <p:spPr>
            <a:xfrm>
              <a:off x="0" y="0"/>
              <a:ext cx="1866900" cy="23814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9"/>
            <p:cNvSpPr/>
            <p:nvPr/>
          </p:nvSpPr>
          <p:spPr>
            <a:xfrm>
              <a:off x="0" y="0"/>
              <a:ext cx="57300" cy="2381400"/>
            </a:xfrm>
            <a:prstGeom prst="rect">
              <a:avLst/>
            </a:prstGeom>
            <a:solidFill>
              <a:srgbClr val="B326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19"/>
            <p:cNvSpPr txBox="1"/>
            <p:nvPr/>
          </p:nvSpPr>
          <p:spPr>
            <a:xfrm>
              <a:off x="190500" y="190500"/>
              <a:ext cx="1485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B3261E"/>
                  </a:solidFill>
                  <a:latin typeface="Consolas"/>
                  <a:ea typeface="Consolas"/>
                  <a:cs typeface="Consolas"/>
                  <a:sym typeface="Consolas"/>
                </a:rPr>
                <a:t>01 / DETECT</a:t>
              </a:r>
              <a:endParaRPr b="1" sz="1100">
                <a:solidFill>
                  <a:srgbClr val="B3261E"/>
                </a:solidFill>
                <a:latin typeface="Consolas"/>
                <a:ea typeface="Consolas"/>
                <a:cs typeface="Consolas"/>
                <a:sym typeface="Consolas"/>
              </a:endParaRPr>
            </a:p>
            <a:p>
              <a:pPr indent="0" lvl="0" marL="0" rtl="0" algn="l">
                <a:spcBef>
                  <a:spcPts val="1125"/>
                </a:spcBef>
                <a:spcAft>
                  <a:spcPts val="0"/>
                </a:spcAft>
                <a:buNone/>
              </a:pPr>
              <a:r>
                <a:rPr lang="en" sz="1800">
                  <a:solidFill>
                    <a:srgbClr val="16181C"/>
                  </a:solidFill>
                  <a:latin typeface="Impact"/>
                  <a:ea typeface="Impact"/>
                  <a:cs typeface="Impact"/>
                  <a:sym typeface="Impact"/>
                </a:rPr>
                <a:t>Detection</a:t>
              </a:r>
              <a:endParaRPr sz="1800">
                <a:solidFill>
                  <a:srgbClr val="16181C"/>
                </a:solidFill>
                <a:latin typeface="Impact"/>
                <a:ea typeface="Impact"/>
                <a:cs typeface="Impact"/>
                <a:sym typeface="Impact"/>
              </a:endParaRPr>
            </a:p>
            <a:p>
              <a:pPr indent="0" lvl="0" marL="0" rtl="0" algn="l">
                <a:spcBef>
                  <a:spcPts val="750"/>
                </a:spcBef>
                <a:spcAft>
                  <a:spcPts val="0"/>
                </a:spcAft>
                <a:buNone/>
              </a:pPr>
              <a:r>
                <a:rPr lang="en" sz="1100">
                  <a:solidFill>
                    <a:srgbClr val="3F4247"/>
                  </a:solidFill>
                  <a:latin typeface="Georgia"/>
                  <a:ea typeface="Georgia"/>
                  <a:cs typeface="Georgia"/>
                  <a:sym typeface="Georgia"/>
                </a:rPr>
                <a:t>Real-time threat detection and anomaly identification engine.</a:t>
              </a:r>
              <a:endParaRPr sz="1100">
                <a:solidFill>
                  <a:srgbClr val="3F4247"/>
                </a:solidFill>
                <a:latin typeface="Georgia"/>
                <a:ea typeface="Georgia"/>
                <a:cs typeface="Georgia"/>
                <a:sym typeface="Georgia"/>
              </a:endParaRPr>
            </a:p>
          </p:txBody>
        </p:sp>
      </p:grpSp>
      <p:grpSp>
        <p:nvGrpSpPr>
          <p:cNvPr id="412" name="Google Shape;412;p19"/>
          <p:cNvGrpSpPr/>
          <p:nvPr/>
        </p:nvGrpSpPr>
        <p:grpSpPr>
          <a:xfrm>
            <a:off x="2571750" y="1809750"/>
            <a:ext cx="1866900" cy="2381400"/>
            <a:chOff x="0" y="0"/>
            <a:chExt cx="1866900" cy="2381400"/>
          </a:xfrm>
        </p:grpSpPr>
        <p:sp>
          <p:nvSpPr>
            <p:cNvPr id="413" name="Google Shape;413;p19"/>
            <p:cNvSpPr/>
            <p:nvPr/>
          </p:nvSpPr>
          <p:spPr>
            <a:xfrm>
              <a:off x="0" y="0"/>
              <a:ext cx="1866900" cy="23814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19"/>
            <p:cNvSpPr txBox="1"/>
            <p:nvPr/>
          </p:nvSpPr>
          <p:spPr>
            <a:xfrm>
              <a:off x="190500" y="190500"/>
              <a:ext cx="1485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6B6E73"/>
                  </a:solidFill>
                  <a:latin typeface="Consolas"/>
                  <a:ea typeface="Consolas"/>
                  <a:cs typeface="Consolas"/>
                  <a:sym typeface="Consolas"/>
                </a:rPr>
                <a:t>02 / ATTRIBUTE</a:t>
              </a:r>
              <a:endParaRPr b="1" sz="1100">
                <a:solidFill>
                  <a:srgbClr val="6B6E73"/>
                </a:solidFill>
                <a:latin typeface="Consolas"/>
                <a:ea typeface="Consolas"/>
                <a:cs typeface="Consolas"/>
                <a:sym typeface="Consolas"/>
              </a:endParaRPr>
            </a:p>
            <a:p>
              <a:pPr indent="0" lvl="0" marL="0" rtl="0" algn="l">
                <a:spcBef>
                  <a:spcPts val="1125"/>
                </a:spcBef>
                <a:spcAft>
                  <a:spcPts val="0"/>
                </a:spcAft>
                <a:buNone/>
              </a:pPr>
              <a:r>
                <a:rPr lang="en" sz="1800">
                  <a:solidFill>
                    <a:srgbClr val="16181C"/>
                  </a:solidFill>
                  <a:latin typeface="Impact"/>
                  <a:ea typeface="Impact"/>
                  <a:cs typeface="Impact"/>
                  <a:sym typeface="Impact"/>
                </a:rPr>
                <a:t>Attribution</a:t>
              </a:r>
              <a:endParaRPr sz="1800">
                <a:solidFill>
                  <a:srgbClr val="16181C"/>
                </a:solidFill>
                <a:latin typeface="Impact"/>
                <a:ea typeface="Impact"/>
                <a:cs typeface="Impact"/>
                <a:sym typeface="Impact"/>
              </a:endParaRPr>
            </a:p>
            <a:p>
              <a:pPr indent="0" lvl="0" marL="0" rtl="0" algn="l">
                <a:spcBef>
                  <a:spcPts val="750"/>
                </a:spcBef>
                <a:spcAft>
                  <a:spcPts val="0"/>
                </a:spcAft>
                <a:buNone/>
              </a:pPr>
              <a:r>
                <a:rPr lang="en" sz="1100">
                  <a:solidFill>
                    <a:srgbClr val="3F4247"/>
                  </a:solidFill>
                  <a:latin typeface="Georgia"/>
                  <a:ea typeface="Georgia"/>
                  <a:cs typeface="Georgia"/>
                  <a:sym typeface="Georgia"/>
                </a:rPr>
                <a:t>Grounded MITRE ATT&amp;CK technique mapping and refs.</a:t>
              </a:r>
              <a:endParaRPr sz="1100">
                <a:solidFill>
                  <a:srgbClr val="3F4247"/>
                </a:solidFill>
                <a:latin typeface="Georgia"/>
                <a:ea typeface="Georgia"/>
                <a:cs typeface="Georgia"/>
                <a:sym typeface="Georgia"/>
              </a:endParaRPr>
            </a:p>
          </p:txBody>
        </p:sp>
      </p:grpSp>
      <p:grpSp>
        <p:nvGrpSpPr>
          <p:cNvPr id="415" name="Google Shape;415;p19"/>
          <p:cNvGrpSpPr/>
          <p:nvPr/>
        </p:nvGrpSpPr>
        <p:grpSpPr>
          <a:xfrm>
            <a:off x="4686300" y="1809750"/>
            <a:ext cx="1866900" cy="2381400"/>
            <a:chOff x="0" y="0"/>
            <a:chExt cx="1866900" cy="2381400"/>
          </a:xfrm>
        </p:grpSpPr>
        <p:sp>
          <p:nvSpPr>
            <p:cNvPr id="416" name="Google Shape;416;p19"/>
            <p:cNvSpPr/>
            <p:nvPr/>
          </p:nvSpPr>
          <p:spPr>
            <a:xfrm>
              <a:off x="0" y="0"/>
              <a:ext cx="1866900" cy="23814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19"/>
            <p:cNvSpPr txBox="1"/>
            <p:nvPr/>
          </p:nvSpPr>
          <p:spPr>
            <a:xfrm>
              <a:off x="190500" y="190500"/>
              <a:ext cx="1485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6B6E73"/>
                  </a:solidFill>
                  <a:latin typeface="Consolas"/>
                  <a:ea typeface="Consolas"/>
                  <a:cs typeface="Consolas"/>
                  <a:sym typeface="Consolas"/>
                </a:rPr>
                <a:t>03 / ORCHESTRATE</a:t>
              </a:r>
              <a:endParaRPr b="1" sz="1100">
                <a:solidFill>
                  <a:srgbClr val="6B6E73"/>
                </a:solidFill>
                <a:latin typeface="Consolas"/>
                <a:ea typeface="Consolas"/>
                <a:cs typeface="Consolas"/>
                <a:sym typeface="Consolas"/>
              </a:endParaRPr>
            </a:p>
            <a:p>
              <a:pPr indent="0" lvl="0" marL="0" rtl="0" algn="l">
                <a:spcBef>
                  <a:spcPts val="1125"/>
                </a:spcBef>
                <a:spcAft>
                  <a:spcPts val="0"/>
                </a:spcAft>
                <a:buNone/>
              </a:pPr>
              <a:r>
                <a:rPr lang="en" sz="1800">
                  <a:solidFill>
                    <a:srgbClr val="16181C"/>
                  </a:solidFill>
                  <a:latin typeface="Impact"/>
                  <a:ea typeface="Impact"/>
                  <a:cs typeface="Impact"/>
                  <a:sym typeface="Impact"/>
                </a:rPr>
                <a:t>Orchestration</a:t>
              </a:r>
              <a:endParaRPr sz="1800">
                <a:solidFill>
                  <a:srgbClr val="16181C"/>
                </a:solidFill>
                <a:latin typeface="Impact"/>
                <a:ea typeface="Impact"/>
                <a:cs typeface="Impact"/>
                <a:sym typeface="Impact"/>
              </a:endParaRPr>
            </a:p>
            <a:p>
              <a:pPr indent="0" lvl="0" marL="0" rtl="0" algn="l">
                <a:spcBef>
                  <a:spcPts val="750"/>
                </a:spcBef>
                <a:spcAft>
                  <a:spcPts val="0"/>
                </a:spcAft>
                <a:buNone/>
              </a:pPr>
              <a:r>
                <a:rPr lang="en" sz="1100">
                  <a:solidFill>
                    <a:srgbClr val="3F4247"/>
                  </a:solidFill>
                  <a:latin typeface="Georgia"/>
                  <a:ea typeface="Georgia"/>
                  <a:cs typeface="Georgia"/>
                  <a:sym typeface="Georgia"/>
                </a:rPr>
                <a:t>Instant containment pipelines running autonomously.</a:t>
              </a:r>
              <a:endParaRPr sz="1100">
                <a:solidFill>
                  <a:srgbClr val="3F4247"/>
                </a:solidFill>
                <a:latin typeface="Georgia"/>
                <a:ea typeface="Georgia"/>
                <a:cs typeface="Georgia"/>
                <a:sym typeface="Georgia"/>
              </a:endParaRPr>
            </a:p>
          </p:txBody>
        </p:sp>
      </p:grpSp>
      <p:grpSp>
        <p:nvGrpSpPr>
          <p:cNvPr id="418" name="Google Shape;418;p19"/>
          <p:cNvGrpSpPr/>
          <p:nvPr/>
        </p:nvGrpSpPr>
        <p:grpSpPr>
          <a:xfrm>
            <a:off x="6800850" y="1809750"/>
            <a:ext cx="1866900" cy="2381400"/>
            <a:chOff x="0" y="0"/>
            <a:chExt cx="1866900" cy="2381400"/>
          </a:xfrm>
        </p:grpSpPr>
        <p:sp>
          <p:nvSpPr>
            <p:cNvPr id="419" name="Google Shape;419;p19"/>
            <p:cNvSpPr/>
            <p:nvPr/>
          </p:nvSpPr>
          <p:spPr>
            <a:xfrm>
              <a:off x="0" y="0"/>
              <a:ext cx="1866900" cy="2381400"/>
            </a:xfrm>
            <a:prstGeom prst="rect">
              <a:avLst/>
            </a:prstGeom>
            <a:solidFill>
              <a:srgbClr val="FFFFFF"/>
            </a:solidFill>
            <a:ln cap="flat" cmpd="sng" w="1905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19"/>
            <p:cNvSpPr txBox="1"/>
            <p:nvPr/>
          </p:nvSpPr>
          <p:spPr>
            <a:xfrm>
              <a:off x="190500" y="190500"/>
              <a:ext cx="1485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6B6E73"/>
                  </a:solidFill>
                  <a:latin typeface="Consolas"/>
                  <a:ea typeface="Consolas"/>
                  <a:cs typeface="Consolas"/>
                  <a:sym typeface="Consolas"/>
                </a:rPr>
                <a:t>04 / VISUALIZE</a:t>
              </a:r>
              <a:endParaRPr b="1" sz="1100">
                <a:solidFill>
                  <a:srgbClr val="6B6E73"/>
                </a:solidFill>
                <a:latin typeface="Consolas"/>
                <a:ea typeface="Consolas"/>
                <a:cs typeface="Consolas"/>
                <a:sym typeface="Consolas"/>
              </a:endParaRPr>
            </a:p>
            <a:p>
              <a:pPr indent="0" lvl="0" marL="0" rtl="0" algn="l">
                <a:spcBef>
                  <a:spcPts val="1125"/>
                </a:spcBef>
                <a:spcAft>
                  <a:spcPts val="0"/>
                </a:spcAft>
                <a:buNone/>
              </a:pPr>
              <a:r>
                <a:rPr lang="en" sz="1800">
                  <a:solidFill>
                    <a:srgbClr val="16181C"/>
                  </a:solidFill>
                  <a:latin typeface="Impact"/>
                  <a:ea typeface="Impact"/>
                  <a:cs typeface="Impact"/>
                  <a:sym typeface="Impact"/>
                </a:rPr>
                <a:t>Dashboard</a:t>
              </a:r>
              <a:endParaRPr sz="1800">
                <a:solidFill>
                  <a:srgbClr val="16181C"/>
                </a:solidFill>
                <a:latin typeface="Impact"/>
                <a:ea typeface="Impact"/>
                <a:cs typeface="Impact"/>
                <a:sym typeface="Impact"/>
              </a:endParaRPr>
            </a:p>
            <a:p>
              <a:pPr indent="0" lvl="0" marL="0" rtl="0" algn="l">
                <a:spcBef>
                  <a:spcPts val="750"/>
                </a:spcBef>
                <a:spcAft>
                  <a:spcPts val="0"/>
                </a:spcAft>
                <a:buNone/>
              </a:pPr>
              <a:r>
                <a:rPr lang="en" sz="1100">
                  <a:solidFill>
                    <a:srgbClr val="3F4247"/>
                  </a:solidFill>
                  <a:latin typeface="Georgia"/>
                  <a:ea typeface="Georgia"/>
                  <a:cs typeface="Georgia"/>
                  <a:sym typeface="Georgia"/>
                </a:rPr>
                <a:t>Live unified interface presenting clean decision metrics.</a:t>
              </a:r>
              <a:endParaRPr sz="1100">
                <a:solidFill>
                  <a:srgbClr val="3F4247"/>
                </a:solidFill>
                <a:latin typeface="Georgia"/>
                <a:ea typeface="Georgia"/>
                <a:cs typeface="Georgia"/>
                <a:sym typeface="Georgia"/>
              </a:endParaRPr>
            </a:p>
          </p:txBody>
        </p:sp>
      </p:grpSp>
      <p:sp>
        <p:nvSpPr>
          <p:cNvPr id="421" name="Google Shape;421;p19"/>
          <p:cNvSpPr/>
          <p:nvPr/>
        </p:nvSpPr>
        <p:spPr>
          <a:xfrm>
            <a:off x="457200" y="4476750"/>
            <a:ext cx="8229600" cy="0"/>
          </a:xfrm>
          <a:custGeom>
            <a:rect b="b" l="l" r="r" t="t"/>
            <a:pathLst>
              <a:path extrusionOk="0" h="120000" w="120000">
                <a:moveTo>
                  <a:pt x="0" y="0"/>
                </a:moveTo>
                <a:lnTo>
                  <a:pt x="120000" y="0"/>
                </a:lnTo>
              </a:path>
            </a:pathLst>
          </a:custGeom>
          <a:solidFill>
            <a:srgbClr val="000000">
              <a:alpha val="0"/>
            </a:srgbClr>
          </a:solidFill>
          <a:ln cap="flat" cmpd="sng" w="14300">
            <a:solidFill>
              <a:srgbClr val="1618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19"/>
          <p:cNvSpPr txBox="1"/>
          <p:nvPr/>
        </p:nvSpPr>
        <p:spPr>
          <a:xfrm>
            <a:off x="457200" y="4619625"/>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6B6E73"/>
                </a:solidFill>
                <a:latin typeface="Consolas"/>
                <a:ea typeface="Consolas"/>
                <a:cs typeface="Consolas"/>
                <a:sym typeface="Consolas"/>
              </a:rPr>
              <a:t>ET AI HACKATHON 2026 / PROBLEM STATEMENT 7</a:t>
            </a:r>
            <a:endParaRPr sz="1000">
              <a:solidFill>
                <a:srgbClr val="6B6E73"/>
              </a:solidFill>
              <a:latin typeface="Consolas"/>
              <a:ea typeface="Consolas"/>
              <a:cs typeface="Consolas"/>
              <a:sym typeface="Consolas"/>
            </a:endParaRPr>
          </a:p>
        </p:txBody>
      </p:sp>
      <p:sp>
        <p:nvSpPr>
          <p:cNvPr id="423" name="Google Shape;423;p19"/>
          <p:cNvSpPr txBox="1"/>
          <p:nvPr/>
        </p:nvSpPr>
        <p:spPr>
          <a:xfrm>
            <a:off x="4286250" y="4619625"/>
            <a:ext cx="3333900" cy="2859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 sz="1000">
                <a:solidFill>
                  <a:srgbClr val="16181C"/>
                </a:solidFill>
                <a:latin typeface="Georgia"/>
                <a:ea typeface="Georgia"/>
                <a:cs typeface="Georgia"/>
                <a:sym typeface="Georgia"/>
              </a:rPr>
              <a:t>Abhinav Singh, Yash Virulkar, Shrikant Shingare</a:t>
            </a:r>
            <a:endParaRPr b="1" sz="1000">
              <a:solidFill>
                <a:srgbClr val="16181C"/>
              </a:solidFill>
              <a:latin typeface="Georgia"/>
              <a:ea typeface="Georgia"/>
              <a:cs typeface="Georgia"/>
              <a:sym typeface="Georgia"/>
            </a:endParaRPr>
          </a:p>
        </p:txBody>
      </p:sp>
      <p:pic>
        <p:nvPicPr>
          <p:cNvPr id="424" name="Google Shape;424;p19"/>
          <p:cNvPicPr preferRelativeResize="0"/>
          <p:nvPr/>
        </p:nvPicPr>
        <p:blipFill rotWithShape="1">
          <a:blip r:embed="rId3">
            <a:alphaModFix/>
          </a:blip>
          <a:srcRect b="2499" l="0" r="0" t="2489"/>
          <a:stretch/>
        </p:blipFill>
        <p:spPr>
          <a:xfrm>
            <a:off x="8191500" y="4572000"/>
            <a:ext cx="476400" cy="476400"/>
          </a:xfrm>
          <a:prstGeom prst="rect">
            <a:avLst/>
          </a:prstGeom>
          <a:noFill/>
          <a:ln>
            <a:noFill/>
          </a:ln>
        </p:spPr>
      </p:pic>
    </p:spTree>
  </p:cSld>
  <p:clrMapOvr>
    <a:masterClrMapping/>
  </p:clrMapOvr>
  <mc:AlternateContent>
    <mc:Choice Requires="p14">
      <p:transition p14:dur="400">
        <p:fade/>
      </p:transition>
    </mc:Choice>
    <mc:Fallback>
      <p:transition>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PPT Master">
      <a:dk1>
        <a:srgbClr val="16181C"/>
      </a:dk1>
      <a:lt1>
        <a:srgbClr val="F4F1E8"/>
      </a:lt1>
      <a:dk2>
        <a:srgbClr val="3F4247"/>
      </a:dk2>
      <a:lt2>
        <a:srgbClr val="E8E3D3"/>
      </a:lt2>
      <a:accent1>
        <a:srgbClr val="16181C"/>
      </a:accent1>
      <a:accent2>
        <a:srgbClr val="B3261E"/>
      </a:accent2>
      <a:accent3>
        <a:srgbClr val="5B6470"/>
      </a:accent3>
      <a:accent4>
        <a:srgbClr val="16181C"/>
      </a:accent4>
      <a:accent5>
        <a:srgbClr val="6B6E73"/>
      </a:accent5>
      <a:accent6>
        <a:srgbClr val="4B6C4F"/>
      </a:accent6>
      <a:hlink>
        <a:srgbClr val="B3261E"/>
      </a:hlink>
      <a:folHlink>
        <a:srgbClr val="5B64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